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1250" r:id="rId2"/>
    <p:sldId id="1252" r:id="rId3"/>
    <p:sldId id="1254" r:id="rId4"/>
    <p:sldId id="1253" r:id="rId5"/>
    <p:sldId id="1118" r:id="rId6"/>
    <p:sldId id="1110" r:id="rId7"/>
    <p:sldId id="1232" r:id="rId8"/>
    <p:sldId id="1107" r:id="rId9"/>
    <p:sldId id="1234" r:id="rId10"/>
    <p:sldId id="1258" r:id="rId11"/>
    <p:sldId id="1133" r:id="rId12"/>
    <p:sldId id="1195" r:id="rId13"/>
    <p:sldId id="1249" r:id="rId14"/>
    <p:sldId id="1257" r:id="rId15"/>
    <p:sldId id="1200" r:id="rId16"/>
    <p:sldId id="1201" r:id="rId17"/>
    <p:sldId id="1202" r:id="rId18"/>
    <p:sldId id="1203" r:id="rId19"/>
    <p:sldId id="1261" r:id="rId20"/>
    <p:sldId id="125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D3CF"/>
    <a:srgbClr val="E3D9E8"/>
    <a:srgbClr val="FAE1BF"/>
    <a:srgbClr val="EDF0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8A62BB-7B6E-45BE-BD86-1F695E57374B}" v="3" dt="2025-02-13T08:55:58.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stine Clack" userId="346e06c2-34d8-49c4-a7ac-548777ead91c" providerId="ADAL" clId="{5D8A62BB-7B6E-45BE-BD86-1F695E57374B}"/>
    <pc:docChg chg="custSel delSld modSld">
      <pc:chgData name="Justine Clack" userId="346e06c2-34d8-49c4-a7ac-548777ead91c" providerId="ADAL" clId="{5D8A62BB-7B6E-45BE-BD86-1F695E57374B}" dt="2025-02-13T11:42:33.374" v="682" actId="20577"/>
      <pc:docMkLst>
        <pc:docMk/>
      </pc:docMkLst>
      <pc:sldChg chg="addSp modSp mod">
        <pc:chgData name="Justine Clack" userId="346e06c2-34d8-49c4-a7ac-548777ead91c" providerId="ADAL" clId="{5D8A62BB-7B6E-45BE-BD86-1F695E57374B}" dt="2025-02-13T08:52:46.455" v="303" actId="14100"/>
        <pc:sldMkLst>
          <pc:docMk/>
          <pc:sldMk cId="3282453086" sldId="1253"/>
        </pc:sldMkLst>
        <pc:spChg chg="mod">
          <ac:chgData name="Justine Clack" userId="346e06c2-34d8-49c4-a7ac-548777ead91c" providerId="ADAL" clId="{5D8A62BB-7B6E-45BE-BD86-1F695E57374B}" dt="2025-02-13T08:52:46.455" v="303" actId="14100"/>
          <ac:spMkLst>
            <pc:docMk/>
            <pc:sldMk cId="3282453086" sldId="1253"/>
            <ac:spMk id="5" creationId="{B9C1EBF7-0DA8-A89A-9823-8DDBE9B2AFFC}"/>
          </ac:spMkLst>
        </pc:spChg>
        <pc:picChg chg="add mod">
          <ac:chgData name="Justine Clack" userId="346e06c2-34d8-49c4-a7ac-548777ead91c" providerId="ADAL" clId="{5D8A62BB-7B6E-45BE-BD86-1F695E57374B}" dt="2025-02-13T08:52:43.186" v="302" actId="1076"/>
          <ac:picMkLst>
            <pc:docMk/>
            <pc:sldMk cId="3282453086" sldId="1253"/>
            <ac:picMk id="2" creationId="{E26DE776-FF34-28AC-43EB-90F7BAC65FA5}"/>
          </ac:picMkLst>
        </pc:picChg>
      </pc:sldChg>
      <pc:sldChg chg="addSp modSp mod">
        <pc:chgData name="Justine Clack" userId="346e06c2-34d8-49c4-a7ac-548777ead91c" providerId="ADAL" clId="{5D8A62BB-7B6E-45BE-BD86-1F695E57374B}" dt="2025-02-13T11:42:33.374" v="682" actId="20577"/>
        <pc:sldMkLst>
          <pc:docMk/>
          <pc:sldMk cId="3683886166" sldId="1254"/>
        </pc:sldMkLst>
        <pc:spChg chg="mod">
          <ac:chgData name="Justine Clack" userId="346e06c2-34d8-49c4-a7ac-548777ead91c" providerId="ADAL" clId="{5D8A62BB-7B6E-45BE-BD86-1F695E57374B}" dt="2025-02-13T11:42:33.374" v="682" actId="20577"/>
          <ac:spMkLst>
            <pc:docMk/>
            <pc:sldMk cId="3683886166" sldId="1254"/>
            <ac:spMk id="2" creationId="{6AA04415-44B2-9888-5690-25FF399AFAE9}"/>
          </ac:spMkLst>
        </pc:spChg>
        <pc:picChg chg="add mod">
          <ac:chgData name="Justine Clack" userId="346e06c2-34d8-49c4-a7ac-548777ead91c" providerId="ADAL" clId="{5D8A62BB-7B6E-45BE-BD86-1F695E57374B}" dt="2025-02-13T08:55:33.392" v="311" actId="1076"/>
          <ac:picMkLst>
            <pc:docMk/>
            <pc:sldMk cId="3683886166" sldId="1254"/>
            <ac:picMk id="3" creationId="{13BCB4D3-0649-23DC-599B-6A201F702591}"/>
          </ac:picMkLst>
        </pc:picChg>
      </pc:sldChg>
      <pc:sldChg chg="del">
        <pc:chgData name="Justine Clack" userId="346e06c2-34d8-49c4-a7ac-548777ead91c" providerId="ADAL" clId="{5D8A62BB-7B6E-45BE-BD86-1F695E57374B}" dt="2025-02-13T08:47:51.372" v="1" actId="2696"/>
        <pc:sldMkLst>
          <pc:docMk/>
          <pc:sldMk cId="2729296232" sldId="1259"/>
        </pc:sldMkLst>
      </pc:sldChg>
      <pc:sldChg chg="del">
        <pc:chgData name="Justine Clack" userId="346e06c2-34d8-49c4-a7ac-548777ead91c" providerId="ADAL" clId="{5D8A62BB-7B6E-45BE-BD86-1F695E57374B}" dt="2025-02-13T08:57:49.175" v="333" actId="2696"/>
        <pc:sldMkLst>
          <pc:docMk/>
          <pc:sldMk cId="2897947748" sldId="1260"/>
        </pc:sldMkLst>
      </pc:sldChg>
      <pc:sldChg chg="addSp delSp modSp mod">
        <pc:chgData name="Justine Clack" userId="346e06c2-34d8-49c4-a7ac-548777ead91c" providerId="ADAL" clId="{5D8A62BB-7B6E-45BE-BD86-1F695E57374B}" dt="2025-02-13T09:13:00.496" v="359" actId="27636"/>
        <pc:sldMkLst>
          <pc:docMk/>
          <pc:sldMk cId="830463719" sldId="1261"/>
        </pc:sldMkLst>
        <pc:spChg chg="mod">
          <ac:chgData name="Justine Clack" userId="346e06c2-34d8-49c4-a7ac-548777ead91c" providerId="ADAL" clId="{5D8A62BB-7B6E-45BE-BD86-1F695E57374B}" dt="2025-02-13T09:13:00.496" v="359" actId="27636"/>
          <ac:spMkLst>
            <pc:docMk/>
            <pc:sldMk cId="830463719" sldId="1261"/>
            <ac:spMk id="7" creationId="{445228F5-A3E5-37D3-9B73-F2877EF6AF70}"/>
          </ac:spMkLst>
        </pc:spChg>
        <pc:picChg chg="del mod">
          <ac:chgData name="Justine Clack" userId="346e06c2-34d8-49c4-a7ac-548777ead91c" providerId="ADAL" clId="{5D8A62BB-7B6E-45BE-BD86-1F695E57374B}" dt="2025-02-13T08:48:30.172" v="65" actId="478"/>
          <ac:picMkLst>
            <pc:docMk/>
            <pc:sldMk cId="830463719" sldId="1261"/>
            <ac:picMk id="5" creationId="{D8986923-D038-5AF2-4600-7A3E5DA053C5}"/>
          </ac:picMkLst>
        </pc:picChg>
        <pc:picChg chg="add mod">
          <ac:chgData name="Justine Clack" userId="346e06c2-34d8-49c4-a7ac-548777ead91c" providerId="ADAL" clId="{5D8A62BB-7B6E-45BE-BD86-1F695E57374B}" dt="2025-02-13T08:56:14.803" v="318" actId="1076"/>
          <ac:picMkLst>
            <pc:docMk/>
            <pc:sldMk cId="830463719" sldId="1261"/>
            <ac:picMk id="6" creationId="{9B38EC21-0504-8252-682C-753E50978C0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13A9B4-F787-4C70-97BE-1C94B32999DB}" type="datetimeFigureOut">
              <a:rPr lang="en-GB" smtClean="0"/>
              <a:t>13/02/2025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7E08EF-F220-42D6-A022-D8C0E7C60AAB}" type="slidenum">
              <a:rPr lang="en-GB" smtClean="0"/>
              <a:t>‹#›</a:t>
            </a:fld>
            <a:endParaRPr lang="en-GB"/>
          </a:p>
        </p:txBody>
      </p:sp>
    </p:spTree>
    <p:extLst>
      <p:ext uri="{BB962C8B-B14F-4D97-AF65-F5344CB8AC3E}">
        <p14:creationId xmlns:p14="http://schemas.microsoft.com/office/powerpoint/2010/main" val="427023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0166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6981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2439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6289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98079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https://research.aimultiple.com/ai-fail/</a:t>
            </a:r>
          </a:p>
        </p:txBody>
      </p:sp>
      <p:sp>
        <p:nvSpPr>
          <p:cNvPr id="4" name="Slide Number Placeholder 3"/>
          <p:cNvSpPr>
            <a:spLocks noGrp="1"/>
          </p:cNvSpPr>
          <p:nvPr>
            <p:ph type="sldNum" sz="quarter" idx="5"/>
          </p:nvPr>
        </p:nvSpPr>
        <p:spPr/>
        <p:txBody>
          <a:bodyPr/>
          <a:lstStyle/>
          <a:p>
            <a:fld id="{BCC21A4C-94B1-44DB-808F-2A51A4CA9D73}" type="slidenum">
              <a:rPr lang="en-US" smtClean="0"/>
              <a:t>6</a:t>
            </a:fld>
            <a:endParaRPr lang="en-US"/>
          </a:p>
        </p:txBody>
      </p:sp>
    </p:spTree>
    <p:extLst>
      <p:ext uri="{BB962C8B-B14F-4D97-AF65-F5344CB8AC3E}">
        <p14:creationId xmlns:p14="http://schemas.microsoft.com/office/powerpoint/2010/main" val="1250067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8553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https://www.dataversity.net/what-is-data-leadership/</a:t>
            </a:r>
          </a:p>
          <a:p>
            <a:pPr marL="0" lvl="0" indent="0" algn="l" rtl="0">
              <a:spcBef>
                <a:spcPts val="0"/>
              </a:spcBef>
              <a:spcAft>
                <a:spcPts val="0"/>
              </a:spcAft>
              <a:buNone/>
            </a:pPr>
            <a:r>
              <a:rPr lang="en-GB" dirty="0"/>
              <a:t>https://www.insightpartners.com/ideas/7-habits-of-effective-data-leaders/</a:t>
            </a:r>
          </a:p>
          <a:p>
            <a:pPr marL="0" lvl="0" indent="0" algn="l" rtl="0">
              <a:spcBef>
                <a:spcPts val="0"/>
              </a:spcBef>
              <a:spcAft>
                <a:spcPts val="0"/>
              </a:spcAft>
              <a:buNone/>
            </a:pPr>
            <a:r>
              <a:rPr lang="en-GB" dirty="0"/>
              <a:t>https://www.information-age.com/want-be-data-leader-here-are-8-attributes-youll-need-32394/</a:t>
            </a:r>
          </a:p>
          <a:p>
            <a:pPr marL="0" lvl="0" indent="0" algn="l" rtl="0">
              <a:spcBef>
                <a:spcPts val="0"/>
              </a:spcBef>
              <a:spcAft>
                <a:spcPts val="0"/>
              </a:spcAft>
              <a:buNone/>
            </a:pPr>
            <a:r>
              <a:rPr lang="en-GB" dirty="0"/>
              <a:t>https://www.linkedin.com/pulse/essential-qualities-successful-data-leader-dr-shorful-islam-hmf5e/</a:t>
            </a:r>
          </a:p>
          <a:p>
            <a:pPr marL="0" lvl="0" indent="0" algn="l" rtl="0">
              <a:spcBef>
                <a:spcPts val="0"/>
              </a:spcBef>
              <a:spcAft>
                <a:spcPts val="0"/>
              </a:spcAft>
              <a:buNone/>
            </a:pPr>
            <a:r>
              <a:rPr lang="en-GB" dirty="0"/>
              <a:t>https://www.gethynellis.com/2024/03/top-5-essential-skills-for-data-leaders-driving-organisational-success.html</a:t>
            </a:r>
          </a:p>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78553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CC21A4C-94B1-44DB-808F-2A51A4CA9D73}" type="slidenum">
              <a:rPr lang="en-US" smtClean="0"/>
              <a:t>9</a:t>
            </a:fld>
            <a:endParaRPr lang="en-US"/>
          </a:p>
        </p:txBody>
      </p:sp>
    </p:spTree>
    <p:extLst>
      <p:ext uri="{BB962C8B-B14F-4D97-AF65-F5344CB8AC3E}">
        <p14:creationId xmlns:p14="http://schemas.microsoft.com/office/powerpoint/2010/main" val="1401869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9952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11</a:t>
            </a:fld>
            <a:endParaRPr lang="en-US"/>
          </a:p>
        </p:txBody>
      </p:sp>
    </p:spTree>
    <p:extLst>
      <p:ext uri="{BB962C8B-B14F-4D97-AF65-F5344CB8AC3E}">
        <p14:creationId xmlns:p14="http://schemas.microsoft.com/office/powerpoint/2010/main" val="2152762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12</a:t>
            </a:fld>
            <a:endParaRPr lang="en-US"/>
          </a:p>
        </p:txBody>
      </p:sp>
    </p:spTree>
    <p:extLst>
      <p:ext uri="{BB962C8B-B14F-4D97-AF65-F5344CB8AC3E}">
        <p14:creationId xmlns:p14="http://schemas.microsoft.com/office/powerpoint/2010/main" val="1559222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13</a:t>
            </a:fld>
            <a:endParaRPr lang="en-US"/>
          </a:p>
        </p:txBody>
      </p:sp>
    </p:spTree>
    <p:extLst>
      <p:ext uri="{BB962C8B-B14F-4D97-AF65-F5344CB8AC3E}">
        <p14:creationId xmlns:p14="http://schemas.microsoft.com/office/powerpoint/2010/main" val="3594739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6869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6E2B6A9-140D-40C6-9CB0-FE3A1877E205}" type="slidenum">
              <a:rPr lang="en-GB" smtClean="0"/>
              <a:t>15</a:t>
            </a:fld>
            <a:endParaRPr lang="en-GB"/>
          </a:p>
        </p:txBody>
      </p:sp>
    </p:spTree>
    <p:extLst>
      <p:ext uri="{BB962C8B-B14F-4D97-AF65-F5344CB8AC3E}">
        <p14:creationId xmlns:p14="http://schemas.microsoft.com/office/powerpoint/2010/main" val="2700361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6E2B6A9-140D-40C6-9CB0-FE3A1877E205}" type="slidenum">
              <a:rPr lang="en-GB" smtClean="0"/>
              <a:t>16</a:t>
            </a:fld>
            <a:endParaRPr lang="en-GB"/>
          </a:p>
        </p:txBody>
      </p:sp>
    </p:spTree>
    <p:extLst>
      <p:ext uri="{BB962C8B-B14F-4D97-AF65-F5344CB8AC3E}">
        <p14:creationId xmlns:p14="http://schemas.microsoft.com/office/powerpoint/2010/main" val="13679934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6E2B6A9-140D-40C6-9CB0-FE3A1877E205}" type="slidenum">
              <a:rPr lang="en-GB" smtClean="0"/>
              <a:t>17</a:t>
            </a:fld>
            <a:endParaRPr lang="en-GB"/>
          </a:p>
        </p:txBody>
      </p:sp>
    </p:spTree>
    <p:extLst>
      <p:ext uri="{BB962C8B-B14F-4D97-AF65-F5344CB8AC3E}">
        <p14:creationId xmlns:p14="http://schemas.microsoft.com/office/powerpoint/2010/main" val="1626045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6E2B6A9-140D-40C6-9CB0-FE3A1877E205}" type="slidenum">
              <a:rPr lang="en-GB" smtClean="0"/>
              <a:t>18</a:t>
            </a:fld>
            <a:endParaRPr lang="en-GB"/>
          </a:p>
        </p:txBody>
      </p:sp>
    </p:spTree>
    <p:extLst>
      <p:ext uri="{BB962C8B-B14F-4D97-AF65-F5344CB8AC3E}">
        <p14:creationId xmlns:p14="http://schemas.microsoft.com/office/powerpoint/2010/main" val="11526523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4" name="Google Shape;16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89027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CC21A4C-94B1-44DB-808F-2A51A4CA9D73}" type="slidenum">
              <a:rPr lang="en-US" smtClean="0"/>
              <a:t>20</a:t>
            </a:fld>
            <a:endParaRPr lang="en-US"/>
          </a:p>
        </p:txBody>
      </p:sp>
    </p:spTree>
    <p:extLst>
      <p:ext uri="{BB962C8B-B14F-4D97-AF65-F5344CB8AC3E}">
        <p14:creationId xmlns:p14="http://schemas.microsoft.com/office/powerpoint/2010/main" val="1896556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D56AF-F77C-9497-4510-4947D00179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B39860B6-7195-3F1B-5A69-DA1FF21BAD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84DC2166-F4E1-36F7-1F22-3C09B47EE2A1}"/>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5" name="Footer Placeholder 4">
            <a:extLst>
              <a:ext uri="{FF2B5EF4-FFF2-40B4-BE49-F238E27FC236}">
                <a16:creationId xmlns:a16="http://schemas.microsoft.com/office/drawing/2014/main" id="{524083DF-C7D1-C153-0B3E-7FBFD6E094D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C903341-F8DB-82F6-346A-EBB5C2FD1664}"/>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2862186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C132A-BACD-FCE4-CC1D-4108494073C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B0E8E97-188F-8A98-D7F2-A4BA548287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624A113-DDBD-85A2-7CFE-7F2A737A1421}"/>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5" name="Footer Placeholder 4">
            <a:extLst>
              <a:ext uri="{FF2B5EF4-FFF2-40B4-BE49-F238E27FC236}">
                <a16:creationId xmlns:a16="http://schemas.microsoft.com/office/drawing/2014/main" id="{DAED852C-99A0-C1C1-D5F9-03C18C9EB5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FFAB0A-9DE7-7E06-F695-48DE76D4A2D2}"/>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1558112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EEE95-31C9-37A8-A909-96416E92B9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8D7D0BE-294D-3E46-5A29-D15D1C596ED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ACDD94-3674-3C1E-C75E-D53BC6916634}"/>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5" name="Footer Placeholder 4">
            <a:extLst>
              <a:ext uri="{FF2B5EF4-FFF2-40B4-BE49-F238E27FC236}">
                <a16:creationId xmlns:a16="http://schemas.microsoft.com/office/drawing/2014/main" id="{76616467-3FF7-DE9C-2702-E79347A6B8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F2C0FB-EEAB-3B80-68F9-EE09C00403DA}"/>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3483761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BD92E-A15A-3C4E-7C48-2E175713C50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EBBF8E2-5C1E-D1E1-3BDF-7F4423AAA3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9AD4299-0FB9-C8B6-1ABB-B347A0A220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6D5B9FF-5F92-89CF-BFCD-959E25257040}"/>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6" name="Footer Placeholder 5">
            <a:extLst>
              <a:ext uri="{FF2B5EF4-FFF2-40B4-BE49-F238E27FC236}">
                <a16:creationId xmlns:a16="http://schemas.microsoft.com/office/drawing/2014/main" id="{CDAB1D88-CA60-BFFC-5FDF-055B902A804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9475FD6-F0FE-817B-40E5-7ED94C929EC2}"/>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306907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127F3-34B3-AE2B-9025-9DDD0EF136E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CE1084-4654-4044-51E6-A051AF3997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009EB3-BB50-2229-7231-C133FE5352C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935995C-DD81-0291-D10F-5FABD60B9B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C21B13-A2B5-8501-A687-0DE5370F7D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E45B7B1-CF1B-F7EF-F2DB-40BF45DC61DB}"/>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8" name="Footer Placeholder 7">
            <a:extLst>
              <a:ext uri="{FF2B5EF4-FFF2-40B4-BE49-F238E27FC236}">
                <a16:creationId xmlns:a16="http://schemas.microsoft.com/office/drawing/2014/main" id="{6004947C-D62D-2F20-CF67-1A580571CD5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0FD6DC8-D5B1-272E-F23B-E7C23AA8E7FD}"/>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4158780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0CEFE-FC2D-1797-4A7E-7C0A0284AD2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2E10684-B766-80D2-8F15-BFC422B99174}"/>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4" name="Footer Placeholder 3">
            <a:extLst>
              <a:ext uri="{FF2B5EF4-FFF2-40B4-BE49-F238E27FC236}">
                <a16:creationId xmlns:a16="http://schemas.microsoft.com/office/drawing/2014/main" id="{B44017F9-5FD8-8064-6CE3-E33F5D1F77D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A411CA5-7473-5886-70D0-96B3A687649D}"/>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113617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E661B4-4C59-07C7-0297-78C292859940}"/>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3" name="Footer Placeholder 2">
            <a:extLst>
              <a:ext uri="{FF2B5EF4-FFF2-40B4-BE49-F238E27FC236}">
                <a16:creationId xmlns:a16="http://schemas.microsoft.com/office/drawing/2014/main" id="{9725B705-30D4-6518-35B1-D863417A1438}"/>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4693EC4-7E3E-6CF2-E887-93F2A64BA5E6}"/>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1803529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BF56A-3F7B-0EB5-8DD4-EE2C3CE9E0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EF848B1-6BDF-074D-FD22-1535419B0A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3ADAA99-05EC-C08F-1E33-348104123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677ECF-E45B-59C8-C1DF-BAB1ADDF4767}"/>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6" name="Footer Placeholder 5">
            <a:extLst>
              <a:ext uri="{FF2B5EF4-FFF2-40B4-BE49-F238E27FC236}">
                <a16:creationId xmlns:a16="http://schemas.microsoft.com/office/drawing/2014/main" id="{47ACE8F9-6E88-1E4D-65BD-FD6A278F798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54A757F-083C-52B8-ED75-CDB43C0F98C1}"/>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3166650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648E-E6A9-C277-0B4D-60B92BD90E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C98D06-CE89-9A13-A2D1-3C4FA95005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2FEB904-1480-9848-B97E-8128CC20D2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1DFABC-7D18-043D-34D1-984E187A7CC8}"/>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6" name="Footer Placeholder 5">
            <a:extLst>
              <a:ext uri="{FF2B5EF4-FFF2-40B4-BE49-F238E27FC236}">
                <a16:creationId xmlns:a16="http://schemas.microsoft.com/office/drawing/2014/main" id="{D20BF0DB-FBFE-213F-1B86-D2B6CC886E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649224-5325-54CA-49F4-5DE7ED50BD68}"/>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1098161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D014A-0428-5BF2-03AC-D2DCC419B7A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F053629-BDB9-07EA-DC5F-1DC208BFEA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34C7DD3-2961-26FD-610E-1D5D73C02A8A}"/>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5" name="Footer Placeholder 4">
            <a:extLst>
              <a:ext uri="{FF2B5EF4-FFF2-40B4-BE49-F238E27FC236}">
                <a16:creationId xmlns:a16="http://schemas.microsoft.com/office/drawing/2014/main" id="{8B2F080E-BE19-DEA8-9628-9E3C6028BE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153193-7978-7D43-F058-84D4B7A3DE68}"/>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30795255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E8C371-EA2C-55B5-AFB8-0F5243F545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8111B88-8736-5D66-2338-BE6E554AD2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2317F4-D5A8-4D63-58A5-BC37B31812BF}"/>
              </a:ext>
            </a:extLst>
          </p:cNvPr>
          <p:cNvSpPr>
            <a:spLocks noGrp="1"/>
          </p:cNvSpPr>
          <p:nvPr>
            <p:ph type="dt" sz="half" idx="10"/>
          </p:nvPr>
        </p:nvSpPr>
        <p:spPr/>
        <p:txBody>
          <a:bodyPr/>
          <a:lstStyle/>
          <a:p>
            <a:fld id="{843CB9A9-D7DB-40FE-B63C-479EDE9143C2}" type="datetimeFigureOut">
              <a:rPr lang="en-GB" smtClean="0"/>
              <a:t>13/02/2025</a:t>
            </a:fld>
            <a:endParaRPr lang="en-GB"/>
          </a:p>
        </p:txBody>
      </p:sp>
      <p:sp>
        <p:nvSpPr>
          <p:cNvPr id="5" name="Footer Placeholder 4">
            <a:extLst>
              <a:ext uri="{FF2B5EF4-FFF2-40B4-BE49-F238E27FC236}">
                <a16:creationId xmlns:a16="http://schemas.microsoft.com/office/drawing/2014/main" id="{C0F19DC9-BDF1-2420-BFF3-DC9422B139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6BE18E-5F9B-110D-5ABF-A31A975933A1}"/>
              </a:ext>
            </a:extLst>
          </p:cNvPr>
          <p:cNvSpPr>
            <a:spLocks noGrp="1"/>
          </p:cNvSpPr>
          <p:nvPr>
            <p:ph type="sldNum" sz="quarter" idx="12"/>
          </p:nvPr>
        </p:nvSpPr>
        <p:spPr/>
        <p:txBody>
          <a:bodyPr/>
          <a:lstStyle/>
          <a:p>
            <a:fld id="{B18D24D0-944E-4781-BE16-41DB7E182A29}" type="slidenum">
              <a:rPr lang="en-GB" smtClean="0"/>
              <a:t>‹#›</a:t>
            </a:fld>
            <a:endParaRPr lang="en-GB"/>
          </a:p>
        </p:txBody>
      </p:sp>
    </p:spTree>
    <p:extLst>
      <p:ext uri="{BB962C8B-B14F-4D97-AF65-F5344CB8AC3E}">
        <p14:creationId xmlns:p14="http://schemas.microsoft.com/office/powerpoint/2010/main" val="36099343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79D1ADD5-FE10-4A62-9811-6EFDF7F8352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8072" b="28114"/>
          <a:stretch/>
        </p:blipFill>
        <p:spPr>
          <a:xfrm rot="16200000">
            <a:off x="8603486" y="3269485"/>
            <a:ext cx="3589548" cy="3587482"/>
          </a:xfrm>
          <a:prstGeom prst="rect">
            <a:avLst/>
          </a:prstGeom>
        </p:spPr>
      </p:pic>
      <p:pic>
        <p:nvPicPr>
          <p:cNvPr id="17" name="Picture 16">
            <a:extLst>
              <a:ext uri="{FF2B5EF4-FFF2-40B4-BE49-F238E27FC236}">
                <a16:creationId xmlns:a16="http://schemas.microsoft.com/office/drawing/2014/main" id="{A12A0972-BE52-4B10-86E8-847A6868E111}"/>
              </a:ext>
            </a:extLst>
          </p:cNvPr>
          <p:cNvPicPr>
            <a:picLocks noChangeAspect="1"/>
          </p:cNvPicPr>
          <p:nvPr userDrawn="1"/>
        </p:nvPicPr>
        <p:blipFill>
          <a:blip r:embed="rId3"/>
          <a:srcRect/>
          <a:stretch/>
        </p:blipFill>
        <p:spPr>
          <a:xfrm>
            <a:off x="10596563" y="5882635"/>
            <a:ext cx="1223547" cy="607065"/>
          </a:xfrm>
          <a:prstGeom prst="rect">
            <a:avLst/>
          </a:prstGeom>
        </p:spPr>
      </p:pic>
      <p:pic>
        <p:nvPicPr>
          <p:cNvPr id="20" name="Picture 19">
            <a:extLst>
              <a:ext uri="{FF2B5EF4-FFF2-40B4-BE49-F238E27FC236}">
                <a16:creationId xmlns:a16="http://schemas.microsoft.com/office/drawing/2014/main" id="{5E4DF735-EE42-408C-BAEA-003EF04BA4C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5784" t="42791" r="53006" b="-4187"/>
          <a:stretch/>
        </p:blipFill>
        <p:spPr>
          <a:xfrm>
            <a:off x="10944805" y="1506994"/>
            <a:ext cx="1171074" cy="2281179"/>
          </a:xfrm>
          <a:prstGeom prst="rect">
            <a:avLst/>
          </a:prstGeom>
        </p:spPr>
      </p:pic>
      <p:sp>
        <p:nvSpPr>
          <p:cNvPr id="21" name="Arc 20">
            <a:extLst>
              <a:ext uri="{FF2B5EF4-FFF2-40B4-BE49-F238E27FC236}">
                <a16:creationId xmlns:a16="http://schemas.microsoft.com/office/drawing/2014/main" id="{2C7C8B98-8693-4380-A0DA-C762A9D225D7}"/>
              </a:ext>
            </a:extLst>
          </p:cNvPr>
          <p:cNvSpPr/>
          <p:nvPr userDrawn="1"/>
        </p:nvSpPr>
        <p:spPr>
          <a:xfrm rot="10800000">
            <a:off x="10604181" y="-1529638"/>
            <a:ext cx="3158413" cy="3158413"/>
          </a:xfrm>
          <a:prstGeom prst="arc">
            <a:avLst>
              <a:gd name="adj1" fmla="val 16182444"/>
              <a:gd name="adj2" fmla="val 114656"/>
            </a:avLst>
          </a:prstGeom>
          <a:ln w="381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 Placeholder 9">
            <a:extLst>
              <a:ext uri="{FF2B5EF4-FFF2-40B4-BE49-F238E27FC236}">
                <a16:creationId xmlns:a16="http://schemas.microsoft.com/office/drawing/2014/main" id="{34569F18-B816-DF41-99D3-5A9CCA6D3AF3}"/>
              </a:ext>
            </a:extLst>
          </p:cNvPr>
          <p:cNvSpPr>
            <a:spLocks noGrp="1"/>
          </p:cNvSpPr>
          <p:nvPr>
            <p:ph type="body" sz="quarter" idx="10" hasCustomPrompt="1"/>
          </p:nvPr>
        </p:nvSpPr>
        <p:spPr>
          <a:xfrm>
            <a:off x="346298" y="317500"/>
            <a:ext cx="9311006" cy="898623"/>
          </a:xfrm>
          <a:prstGeom prst="rect">
            <a:avLst/>
          </a:prstGeom>
        </p:spPr>
        <p:txBody>
          <a:bodyPr lIns="0" tIns="0" rIns="0" bIns="0"/>
          <a:lstStyle>
            <a:lvl1pPr marL="0" indent="0" algn="l">
              <a:buFont typeface="Arial" panose="020B0604020202020204" pitchFamily="34" charset="0"/>
              <a:buNone/>
              <a:defRPr sz="3200" b="1">
                <a:solidFill>
                  <a:schemeClr val="tx1"/>
                </a:solidFill>
              </a:defRPr>
            </a:lvl1pPr>
            <a:lvl2pPr marL="742952" indent="-457200" algn="l">
              <a:buFont typeface="Arial" panose="020B0604020202020204" pitchFamily="34" charset="0"/>
              <a:buChar char="•"/>
              <a:defRPr sz="2800">
                <a:solidFill>
                  <a:schemeClr val="bg1"/>
                </a:solidFill>
              </a:defRPr>
            </a:lvl2pPr>
            <a:lvl3pPr marL="1028705" indent="-457200" algn="l">
              <a:buFont typeface="Arial" panose="020B0604020202020204" pitchFamily="34" charset="0"/>
              <a:buChar char="•"/>
              <a:defRPr sz="2800">
                <a:solidFill>
                  <a:schemeClr val="bg1"/>
                </a:solidFill>
              </a:defRPr>
            </a:lvl3pPr>
            <a:lvl4pPr marL="1314459" indent="-457200" algn="l">
              <a:buFont typeface="Arial" panose="020B0604020202020204" pitchFamily="34" charset="0"/>
              <a:buChar char="•"/>
              <a:defRPr sz="2800">
                <a:solidFill>
                  <a:schemeClr val="bg1"/>
                </a:solidFill>
              </a:defRPr>
            </a:lvl4pPr>
            <a:lvl5pPr marL="1600212" indent="-457200" algn="l">
              <a:buFont typeface="Arial" panose="020B0604020202020204" pitchFamily="34" charset="0"/>
              <a:buChar char="•"/>
              <a:defRPr sz="2800">
                <a:solidFill>
                  <a:schemeClr val="bg1"/>
                </a:solidFill>
              </a:defRPr>
            </a:lvl5pPr>
          </a:lstStyle>
          <a:p>
            <a:pPr lvl="0"/>
            <a:r>
              <a:rPr lang="en-GB" noProof="0"/>
              <a:t>Engaging title header about the contents.</a:t>
            </a:r>
          </a:p>
        </p:txBody>
      </p:sp>
      <p:sp>
        <p:nvSpPr>
          <p:cNvPr id="2" name="Slide Number Placeholder 1">
            <a:extLst>
              <a:ext uri="{FF2B5EF4-FFF2-40B4-BE49-F238E27FC236}">
                <a16:creationId xmlns:a16="http://schemas.microsoft.com/office/drawing/2014/main" id="{7437F3E0-5F85-2642-A9B2-B3F13B4B39CD}"/>
              </a:ext>
            </a:extLst>
          </p:cNvPr>
          <p:cNvSpPr>
            <a:spLocks noGrp="1"/>
          </p:cNvSpPr>
          <p:nvPr>
            <p:ph type="sldNum" sz="quarter" idx="12"/>
          </p:nvPr>
        </p:nvSpPr>
        <p:spPr/>
        <p:txBody>
          <a:bodyPr/>
          <a:lstStyle/>
          <a:p>
            <a:fld id="{3407867C-75BD-4144-8CEA-4B3EDFFD368C}" type="slidenum">
              <a:rPr lang="en-US" smtClean="0"/>
              <a:pPr/>
              <a:t>‹#›</a:t>
            </a:fld>
            <a:endParaRPr lang="en-US"/>
          </a:p>
        </p:txBody>
      </p:sp>
      <p:pic>
        <p:nvPicPr>
          <p:cNvPr id="12" name="Picture 11" descr="A diagram showing our five values. Building Careers Through Education: Everybody Matters; Trust and Respect; Stronger Together; Embrace Change; Student, Learner and Client Centric">
            <a:extLst>
              <a:ext uri="{FF2B5EF4-FFF2-40B4-BE49-F238E27FC236}">
                <a16:creationId xmlns:a16="http://schemas.microsoft.com/office/drawing/2014/main" id="{CA5D5446-BE38-3B48-9221-DAB824DD00AD}"/>
              </a:ext>
            </a:extLst>
          </p:cNvPr>
          <p:cNvPicPr>
            <a:picLocks noChangeAspect="1"/>
          </p:cNvPicPr>
          <p:nvPr userDrawn="1"/>
        </p:nvPicPr>
        <p:blipFill>
          <a:blip r:embed="rId5"/>
          <a:srcRect/>
          <a:stretch/>
        </p:blipFill>
        <p:spPr>
          <a:xfrm>
            <a:off x="10604181" y="368339"/>
            <a:ext cx="1215929" cy="1056201"/>
          </a:xfrm>
          <a:prstGeom prst="rect">
            <a:avLst/>
          </a:prstGeom>
        </p:spPr>
      </p:pic>
    </p:spTree>
    <p:extLst>
      <p:ext uri="{BB962C8B-B14F-4D97-AF65-F5344CB8AC3E}">
        <p14:creationId xmlns:p14="http://schemas.microsoft.com/office/powerpoint/2010/main" val="37104645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79D1ADD5-FE10-4A62-9811-6EFDF7F8352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8072" b="28114"/>
          <a:stretch/>
        </p:blipFill>
        <p:spPr>
          <a:xfrm rot="16200000">
            <a:off x="8603486" y="3269485"/>
            <a:ext cx="3589548" cy="3587482"/>
          </a:xfrm>
          <a:prstGeom prst="rect">
            <a:avLst/>
          </a:prstGeom>
        </p:spPr>
      </p:pic>
      <p:pic>
        <p:nvPicPr>
          <p:cNvPr id="17" name="Picture 16">
            <a:extLst>
              <a:ext uri="{FF2B5EF4-FFF2-40B4-BE49-F238E27FC236}">
                <a16:creationId xmlns:a16="http://schemas.microsoft.com/office/drawing/2014/main" id="{A12A0972-BE52-4B10-86E8-847A6868E111}"/>
              </a:ext>
            </a:extLst>
          </p:cNvPr>
          <p:cNvPicPr>
            <a:picLocks noChangeAspect="1"/>
          </p:cNvPicPr>
          <p:nvPr userDrawn="1"/>
        </p:nvPicPr>
        <p:blipFill>
          <a:blip r:embed="rId3"/>
          <a:srcRect/>
          <a:stretch/>
        </p:blipFill>
        <p:spPr>
          <a:xfrm>
            <a:off x="10596563" y="5882635"/>
            <a:ext cx="1223547" cy="607065"/>
          </a:xfrm>
          <a:prstGeom prst="rect">
            <a:avLst/>
          </a:prstGeom>
        </p:spPr>
      </p:pic>
      <p:pic>
        <p:nvPicPr>
          <p:cNvPr id="20" name="Picture 19">
            <a:extLst>
              <a:ext uri="{FF2B5EF4-FFF2-40B4-BE49-F238E27FC236}">
                <a16:creationId xmlns:a16="http://schemas.microsoft.com/office/drawing/2014/main" id="{5E4DF735-EE42-408C-BAEA-003EF04BA4C5}"/>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l="-5784" t="42791" r="53006" b="-4187"/>
          <a:stretch/>
        </p:blipFill>
        <p:spPr>
          <a:xfrm>
            <a:off x="10944805" y="1506994"/>
            <a:ext cx="1171074" cy="2281179"/>
          </a:xfrm>
          <a:prstGeom prst="rect">
            <a:avLst/>
          </a:prstGeom>
        </p:spPr>
      </p:pic>
      <p:sp>
        <p:nvSpPr>
          <p:cNvPr id="21" name="Arc 20">
            <a:extLst>
              <a:ext uri="{FF2B5EF4-FFF2-40B4-BE49-F238E27FC236}">
                <a16:creationId xmlns:a16="http://schemas.microsoft.com/office/drawing/2014/main" id="{2C7C8B98-8693-4380-A0DA-C762A9D225D7}"/>
              </a:ext>
            </a:extLst>
          </p:cNvPr>
          <p:cNvSpPr/>
          <p:nvPr userDrawn="1"/>
        </p:nvSpPr>
        <p:spPr>
          <a:xfrm rot="10800000">
            <a:off x="10604181" y="-1529638"/>
            <a:ext cx="3158413" cy="3158413"/>
          </a:xfrm>
          <a:prstGeom prst="arc">
            <a:avLst>
              <a:gd name="adj1" fmla="val 16182444"/>
              <a:gd name="adj2" fmla="val 114656"/>
            </a:avLst>
          </a:prstGeom>
          <a:ln w="381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 Placeholder 9">
            <a:extLst>
              <a:ext uri="{FF2B5EF4-FFF2-40B4-BE49-F238E27FC236}">
                <a16:creationId xmlns:a16="http://schemas.microsoft.com/office/drawing/2014/main" id="{561E0AE4-6BEE-464A-A1D8-F9BAED4E42C3}"/>
              </a:ext>
            </a:extLst>
          </p:cNvPr>
          <p:cNvSpPr>
            <a:spLocks noGrp="1"/>
          </p:cNvSpPr>
          <p:nvPr>
            <p:ph type="body" sz="quarter" idx="11" hasCustomPrompt="1"/>
          </p:nvPr>
        </p:nvSpPr>
        <p:spPr>
          <a:xfrm>
            <a:off x="365940" y="1605757"/>
            <a:ext cx="5009336" cy="3805330"/>
          </a:xfrm>
          <a:prstGeom prst="rect">
            <a:avLst/>
          </a:prstGeom>
        </p:spPr>
        <p:txBody>
          <a:bodyPr lIns="0" tIns="0" rIns="0" bIns="0"/>
          <a:lstStyle>
            <a:lvl1pPr marL="0" marR="0" indent="0" algn="l" defTabSz="914400" rtl="0" eaLnBrk="1" fontAlgn="auto" latinLnBrk="0" hangingPunct="1">
              <a:lnSpc>
                <a:spcPts val="1800"/>
              </a:lnSpc>
              <a:spcBef>
                <a:spcPts val="0"/>
              </a:spcBef>
              <a:spcAft>
                <a:spcPts val="1200"/>
              </a:spcAft>
              <a:buClrTx/>
              <a:buSzTx/>
              <a:buFont typeface="Arial" panose="020B0604020202020204" pitchFamily="34" charset="0"/>
              <a:buNone/>
              <a:tabLst/>
              <a:defRPr sz="1600">
                <a:solidFill>
                  <a:schemeClr val="tx1"/>
                </a:solidFill>
              </a:defRPr>
            </a:lvl1pPr>
            <a:lvl2pPr marL="742952" indent="-457200" algn="l">
              <a:buFont typeface="Arial" panose="020B0604020202020204" pitchFamily="34" charset="0"/>
              <a:buChar char="•"/>
              <a:defRPr sz="2800">
                <a:solidFill>
                  <a:schemeClr val="bg1"/>
                </a:solidFill>
              </a:defRPr>
            </a:lvl2pPr>
            <a:lvl3pPr marL="1028705" indent="-457200" algn="l">
              <a:buFont typeface="Arial" panose="020B0604020202020204" pitchFamily="34" charset="0"/>
              <a:buChar char="•"/>
              <a:defRPr sz="2800">
                <a:solidFill>
                  <a:schemeClr val="bg1"/>
                </a:solidFill>
              </a:defRPr>
            </a:lvl3pPr>
            <a:lvl4pPr marL="1314459" indent="-457200" algn="l">
              <a:buFont typeface="Arial" panose="020B0604020202020204" pitchFamily="34" charset="0"/>
              <a:buChar char="•"/>
              <a:defRPr sz="2800">
                <a:solidFill>
                  <a:schemeClr val="bg1"/>
                </a:solidFill>
              </a:defRPr>
            </a:lvl4pPr>
            <a:lvl5pPr marL="1600212" indent="-457200" algn="l">
              <a:buFont typeface="Arial" panose="020B0604020202020204" pitchFamily="34" charset="0"/>
              <a:buChar char="•"/>
              <a:defRPr sz="2800">
                <a:solidFill>
                  <a:schemeClr val="bg1"/>
                </a:solidFill>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Edit text for interesting body copy. Edit text for interesting body copy. Edit text for interesting body copy. Edit text for interesting body copy. Edit text for interesting body copy. Edit text for interesting body copy. Edit text for interesting body copy.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a:p>
        </p:txBody>
      </p:sp>
      <p:sp>
        <p:nvSpPr>
          <p:cNvPr id="11" name="Text Placeholder 9">
            <a:extLst>
              <a:ext uri="{FF2B5EF4-FFF2-40B4-BE49-F238E27FC236}">
                <a16:creationId xmlns:a16="http://schemas.microsoft.com/office/drawing/2014/main" id="{34569F18-B816-DF41-99D3-5A9CCA6D3AF3}"/>
              </a:ext>
            </a:extLst>
          </p:cNvPr>
          <p:cNvSpPr>
            <a:spLocks noGrp="1"/>
          </p:cNvSpPr>
          <p:nvPr>
            <p:ph type="body" sz="quarter" idx="10" hasCustomPrompt="1"/>
          </p:nvPr>
        </p:nvSpPr>
        <p:spPr>
          <a:xfrm>
            <a:off x="346298" y="317500"/>
            <a:ext cx="9311006" cy="898623"/>
          </a:xfrm>
          <a:prstGeom prst="rect">
            <a:avLst/>
          </a:prstGeom>
        </p:spPr>
        <p:txBody>
          <a:bodyPr lIns="0" tIns="0" rIns="0" bIns="0"/>
          <a:lstStyle>
            <a:lvl1pPr marL="0" indent="0" algn="l">
              <a:buFont typeface="Arial" panose="020B0604020202020204" pitchFamily="34" charset="0"/>
              <a:buNone/>
              <a:defRPr sz="3200" b="1">
                <a:solidFill>
                  <a:schemeClr val="tx1"/>
                </a:solidFill>
              </a:defRPr>
            </a:lvl1pPr>
            <a:lvl2pPr marL="742952" indent="-457200" algn="l">
              <a:buFont typeface="Arial" panose="020B0604020202020204" pitchFamily="34" charset="0"/>
              <a:buChar char="•"/>
              <a:defRPr sz="2800">
                <a:solidFill>
                  <a:schemeClr val="bg1"/>
                </a:solidFill>
              </a:defRPr>
            </a:lvl2pPr>
            <a:lvl3pPr marL="1028705" indent="-457200" algn="l">
              <a:buFont typeface="Arial" panose="020B0604020202020204" pitchFamily="34" charset="0"/>
              <a:buChar char="•"/>
              <a:defRPr sz="2800">
                <a:solidFill>
                  <a:schemeClr val="bg1"/>
                </a:solidFill>
              </a:defRPr>
            </a:lvl3pPr>
            <a:lvl4pPr marL="1314459" indent="-457200" algn="l">
              <a:buFont typeface="Arial" panose="020B0604020202020204" pitchFamily="34" charset="0"/>
              <a:buChar char="•"/>
              <a:defRPr sz="2800">
                <a:solidFill>
                  <a:schemeClr val="bg1"/>
                </a:solidFill>
              </a:defRPr>
            </a:lvl4pPr>
            <a:lvl5pPr marL="1600212" indent="-457200" algn="l">
              <a:buFont typeface="Arial" panose="020B0604020202020204" pitchFamily="34" charset="0"/>
              <a:buChar char="•"/>
              <a:defRPr sz="2800">
                <a:solidFill>
                  <a:schemeClr val="bg1"/>
                </a:solidFill>
              </a:defRPr>
            </a:lvl5pPr>
          </a:lstStyle>
          <a:p>
            <a:pPr lvl="0"/>
            <a:r>
              <a:rPr lang="en-US"/>
              <a:t>Engaging title header about the contents.</a:t>
            </a:r>
          </a:p>
        </p:txBody>
      </p:sp>
      <p:sp>
        <p:nvSpPr>
          <p:cNvPr id="2" name="Slide Number Placeholder 1">
            <a:extLst>
              <a:ext uri="{FF2B5EF4-FFF2-40B4-BE49-F238E27FC236}">
                <a16:creationId xmlns:a16="http://schemas.microsoft.com/office/drawing/2014/main" id="{7437F3E0-5F85-2642-A9B2-B3F13B4B39CD}"/>
              </a:ext>
            </a:extLst>
          </p:cNvPr>
          <p:cNvSpPr>
            <a:spLocks noGrp="1"/>
          </p:cNvSpPr>
          <p:nvPr>
            <p:ph type="sldNum" sz="quarter" idx="12"/>
          </p:nvPr>
        </p:nvSpPr>
        <p:spPr/>
        <p:txBody>
          <a:bodyPr/>
          <a:lstStyle/>
          <a:p>
            <a:fld id="{3407867C-75BD-4144-8CEA-4B3EDFFD368C}" type="slidenum">
              <a:rPr lang="en-US" smtClean="0"/>
              <a:pPr/>
              <a:t>‹#›</a:t>
            </a:fld>
            <a:endParaRPr lang="en-US"/>
          </a:p>
        </p:txBody>
      </p:sp>
      <p:pic>
        <p:nvPicPr>
          <p:cNvPr id="12" name="Picture 11" descr="A diagram showing our five values. Building Careers Through Education: Everybody Matters; Trust and Respect; Stronger Together; Embrace Change; Student, Learner and Client Centric">
            <a:extLst>
              <a:ext uri="{FF2B5EF4-FFF2-40B4-BE49-F238E27FC236}">
                <a16:creationId xmlns:a16="http://schemas.microsoft.com/office/drawing/2014/main" id="{CA5D5446-BE38-3B48-9221-DAB824DD00AD}"/>
              </a:ext>
            </a:extLst>
          </p:cNvPr>
          <p:cNvPicPr>
            <a:picLocks noChangeAspect="1"/>
          </p:cNvPicPr>
          <p:nvPr userDrawn="1"/>
        </p:nvPicPr>
        <p:blipFill>
          <a:blip r:embed="rId5"/>
          <a:srcRect/>
          <a:stretch/>
        </p:blipFill>
        <p:spPr>
          <a:xfrm>
            <a:off x="10604181" y="368339"/>
            <a:ext cx="1215929" cy="1056201"/>
          </a:xfrm>
          <a:prstGeom prst="rect">
            <a:avLst/>
          </a:prstGeom>
        </p:spPr>
      </p:pic>
    </p:spTree>
    <p:extLst>
      <p:ext uri="{BB962C8B-B14F-4D97-AF65-F5344CB8AC3E}">
        <p14:creationId xmlns:p14="http://schemas.microsoft.com/office/powerpoint/2010/main" val="3428149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89F806-8B3E-8A09-1D52-3598CC68A3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128AEBA-8D26-6012-5FA2-04605CDF1E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5333091-E7B7-9E74-B053-9601F4FC5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3CB9A9-D7DB-40FE-B63C-479EDE9143C2}" type="datetimeFigureOut">
              <a:rPr lang="en-GB" smtClean="0"/>
              <a:t>13/02/2025</a:t>
            </a:fld>
            <a:endParaRPr lang="en-GB"/>
          </a:p>
        </p:txBody>
      </p:sp>
      <p:sp>
        <p:nvSpPr>
          <p:cNvPr id="5" name="Footer Placeholder 4">
            <a:extLst>
              <a:ext uri="{FF2B5EF4-FFF2-40B4-BE49-F238E27FC236}">
                <a16:creationId xmlns:a16="http://schemas.microsoft.com/office/drawing/2014/main" id="{05F4EB4E-BDD9-B272-7FFC-6DD90EBB56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1C81CE70-2261-6A62-E50F-90E8CE0070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8D24D0-944E-4781-BE16-41DB7E182A29}" type="slidenum">
              <a:rPr lang="en-GB" smtClean="0"/>
              <a:t>‹#›</a:t>
            </a:fld>
            <a:endParaRPr lang="en-GB"/>
          </a:p>
        </p:txBody>
      </p:sp>
    </p:spTree>
    <p:extLst>
      <p:ext uri="{BB962C8B-B14F-4D97-AF65-F5344CB8AC3E}">
        <p14:creationId xmlns:p14="http://schemas.microsoft.com/office/powerpoint/2010/main" val="2899088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hyperlink" Target="https://www.forbes.com/councils/forbestechcouncil/2022/06/27/data-culture-what-it-is-and-how-to-make-it-work/" TargetMode="External"/><Relationship Id="rId3" Type="http://schemas.openxmlformats.org/officeDocument/2006/relationships/hyperlink" Target="https://www.mckinsey.com/midwest/~/media/McKinsey/Business%20Functions/McKinsey%20Analytics/Our%20Insights/Why%20data%20culture%20matters/Why-data-culture-matters.pdf" TargetMode="External"/><Relationship Id="rId7" Type="http://schemas.openxmlformats.org/officeDocument/2006/relationships/hyperlink" Target="https://www.talend.com/uk/resources/what-is-data-culture/" TargetMode="External"/><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hyperlink" Target="https://www.linkedin.com/pulse/data-culture-what-why-matters-data-literacy-academy-cxnhe/" TargetMode="External"/><Relationship Id="rId5" Type="http://schemas.openxmlformats.org/officeDocument/2006/relationships/hyperlink" Target="https://www.alation.com/blog/what-is-data-culture/" TargetMode="External"/><Relationship Id="rId4" Type="http://schemas.openxmlformats.org/officeDocument/2006/relationships/hyperlink" Target="https://www.datacamp.com/blog/how-to-create-data-driven-organiz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14" name="TextBox 13">
            <a:extLst>
              <a:ext uri="{FF2B5EF4-FFF2-40B4-BE49-F238E27FC236}">
                <a16:creationId xmlns:a16="http://schemas.microsoft.com/office/drawing/2014/main" id="{C60D5916-00F6-14CE-B91D-A0FF8050129A}"/>
              </a:ext>
            </a:extLst>
          </p:cNvPr>
          <p:cNvSpPr txBox="1"/>
          <p:nvPr/>
        </p:nvSpPr>
        <p:spPr>
          <a:xfrm>
            <a:off x="1351280" y="838088"/>
            <a:ext cx="8503920" cy="3601832"/>
          </a:xfrm>
          <a:prstGeom prst="rect">
            <a:avLst/>
          </a:prstGeom>
          <a:solidFill>
            <a:srgbClr val="95D3CF"/>
          </a:solidFill>
        </p:spPr>
        <p:txBody>
          <a:bodyPr vert="horz" lIns="91440" tIns="45720" rIns="91440" bIns="45720" rtlCol="0" anchor="ctr">
            <a:noAutofit/>
          </a:bodyPr>
          <a:lstStyle>
            <a:defPPr>
              <a:defRPr lang="en-US"/>
            </a:defPPr>
            <a:lvl1pPr algn="ctr">
              <a:lnSpc>
                <a:spcPct val="90000"/>
              </a:lnSpc>
              <a:spcBef>
                <a:spcPct val="0"/>
              </a:spcBef>
              <a:buNone/>
              <a:defRPr sz="2000" b="1">
                <a:solidFill>
                  <a:srgbClr val="EDF0F2"/>
                </a:solidFill>
                <a:latin typeface="Arial (Body)"/>
                <a:ea typeface="+mj-ea"/>
                <a:cs typeface="+mj-cs"/>
              </a:defRPr>
            </a:lvl1pPr>
          </a:lstStyle>
          <a:p>
            <a:r>
              <a:rPr lang="en-US" sz="3000" dirty="0">
                <a:solidFill>
                  <a:schemeClr val="bg1">
                    <a:lumMod val="50000"/>
                  </a:schemeClr>
                </a:solidFill>
              </a:rPr>
              <a:t>Data Symphony: Orchestrating a Data-Driven Culture</a:t>
            </a:r>
          </a:p>
          <a:p>
            <a:endParaRPr lang="en-US" sz="3000" dirty="0">
              <a:solidFill>
                <a:schemeClr val="bg1">
                  <a:lumMod val="50000"/>
                </a:schemeClr>
              </a:solidFill>
            </a:endParaRPr>
          </a:p>
          <a:p>
            <a:r>
              <a:rPr lang="en-US" sz="3000" dirty="0">
                <a:solidFill>
                  <a:schemeClr val="bg1">
                    <a:lumMod val="50000"/>
                  </a:schemeClr>
                </a:solidFill>
              </a:rPr>
              <a:t>Workshop</a:t>
            </a:r>
          </a:p>
        </p:txBody>
      </p:sp>
    </p:spTree>
    <p:extLst>
      <p:ext uri="{BB962C8B-B14F-4D97-AF65-F5344CB8AC3E}">
        <p14:creationId xmlns:p14="http://schemas.microsoft.com/office/powerpoint/2010/main" val="419724638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7" name="Title 7">
            <a:extLst>
              <a:ext uri="{FF2B5EF4-FFF2-40B4-BE49-F238E27FC236}">
                <a16:creationId xmlns:a16="http://schemas.microsoft.com/office/drawing/2014/main" id="{445228F5-A3E5-37D3-9B73-F2877EF6AF70}"/>
              </a:ext>
            </a:extLst>
          </p:cNvPr>
          <p:cNvSpPr txBox="1">
            <a:spLocks/>
          </p:cNvSpPr>
          <p:nvPr/>
        </p:nvSpPr>
        <p:spPr>
          <a:xfrm>
            <a:off x="569960" y="1507723"/>
            <a:ext cx="5059680" cy="694941"/>
          </a:xfrm>
          <a:prstGeom prst="rect">
            <a:avLst/>
          </a:prstGeom>
          <a:solidFill>
            <a:srgbClr val="95D3CF"/>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b="1" dirty="0">
                <a:solidFill>
                  <a:schemeClr val="bg1">
                    <a:lumMod val="50000"/>
                  </a:schemeClr>
                </a:solidFill>
                <a:latin typeface="Arial (Body)"/>
              </a:rPr>
              <a:t>Egle – Level 4 Data Analyst Program Lead</a:t>
            </a:r>
          </a:p>
        </p:txBody>
      </p:sp>
      <p:pic>
        <p:nvPicPr>
          <p:cNvPr id="3" name="Picture 2">
            <a:extLst>
              <a:ext uri="{FF2B5EF4-FFF2-40B4-BE49-F238E27FC236}">
                <a16:creationId xmlns:a16="http://schemas.microsoft.com/office/drawing/2014/main" id="{10C49EDC-F4C5-BC0F-D2F3-B9AFBA6DDB1D}"/>
              </a:ext>
            </a:extLst>
          </p:cNvPr>
          <p:cNvPicPr>
            <a:picLocks noChangeAspect="1"/>
          </p:cNvPicPr>
          <p:nvPr/>
        </p:nvPicPr>
        <p:blipFill>
          <a:blip r:embed="rId3"/>
          <a:stretch>
            <a:fillRect/>
          </a:stretch>
        </p:blipFill>
        <p:spPr>
          <a:xfrm>
            <a:off x="1946131" y="2433322"/>
            <a:ext cx="2165098" cy="2165098"/>
          </a:xfrm>
          <a:prstGeom prst="rect">
            <a:avLst/>
          </a:prstGeom>
        </p:spPr>
      </p:pic>
      <p:pic>
        <p:nvPicPr>
          <p:cNvPr id="10" name="Picture 9">
            <a:extLst>
              <a:ext uri="{FF2B5EF4-FFF2-40B4-BE49-F238E27FC236}">
                <a16:creationId xmlns:a16="http://schemas.microsoft.com/office/drawing/2014/main" id="{59B25E4F-B912-31CA-9F68-E0CCF9FB8CE4}"/>
              </a:ext>
            </a:extLst>
          </p:cNvPr>
          <p:cNvPicPr>
            <a:picLocks noChangeAspect="1"/>
          </p:cNvPicPr>
          <p:nvPr/>
        </p:nvPicPr>
        <p:blipFill>
          <a:blip r:embed="rId4"/>
          <a:stretch>
            <a:fillRect/>
          </a:stretch>
        </p:blipFill>
        <p:spPr>
          <a:xfrm>
            <a:off x="7553314" y="2433322"/>
            <a:ext cx="2145051" cy="2165098"/>
          </a:xfrm>
          <a:prstGeom prst="rect">
            <a:avLst/>
          </a:prstGeom>
        </p:spPr>
      </p:pic>
      <p:sp>
        <p:nvSpPr>
          <p:cNvPr id="11" name="Title 7">
            <a:extLst>
              <a:ext uri="{FF2B5EF4-FFF2-40B4-BE49-F238E27FC236}">
                <a16:creationId xmlns:a16="http://schemas.microsoft.com/office/drawing/2014/main" id="{03693DB4-28F6-1882-81AE-87C4C6309889}"/>
              </a:ext>
            </a:extLst>
          </p:cNvPr>
          <p:cNvSpPr txBox="1">
            <a:spLocks/>
          </p:cNvSpPr>
          <p:nvPr/>
        </p:nvSpPr>
        <p:spPr>
          <a:xfrm>
            <a:off x="6096000" y="1507740"/>
            <a:ext cx="5059680" cy="694941"/>
          </a:xfrm>
          <a:prstGeom prst="rect">
            <a:avLst/>
          </a:prstGeom>
          <a:solidFill>
            <a:srgbClr val="95D3CF"/>
          </a:solidFill>
        </p:spPr>
        <p:txBody>
          <a:bodyPr vert="horz" lIns="91440" tIns="45720" rIns="91440" bIns="45720" rtlCol="0" anchor="ctr">
            <a:normAutofit/>
          </a:bodyPr>
          <a:lstStyle>
            <a:defPPr>
              <a:defRPr lang="en-US"/>
            </a:defPPr>
            <a:lvl1pPr algn="ctr">
              <a:lnSpc>
                <a:spcPct val="90000"/>
              </a:lnSpc>
              <a:spcBef>
                <a:spcPct val="0"/>
              </a:spcBef>
              <a:buNone/>
              <a:defRPr sz="2000" b="1">
                <a:solidFill>
                  <a:srgbClr val="EDF0F2"/>
                </a:solidFill>
                <a:latin typeface="Arial (Body)"/>
                <a:ea typeface="+mj-ea"/>
                <a:cs typeface="+mj-cs"/>
              </a:defRPr>
            </a:lvl1pPr>
          </a:lstStyle>
          <a:p>
            <a:r>
              <a:rPr lang="en-US" dirty="0">
                <a:solidFill>
                  <a:schemeClr val="bg1">
                    <a:lumMod val="50000"/>
                  </a:schemeClr>
                </a:solidFill>
              </a:rPr>
              <a:t>Justine – Data Strategy and Leadership SME</a:t>
            </a:r>
          </a:p>
        </p:txBody>
      </p:sp>
      <p:sp>
        <p:nvSpPr>
          <p:cNvPr id="12" name="Title 7">
            <a:extLst>
              <a:ext uri="{FF2B5EF4-FFF2-40B4-BE49-F238E27FC236}">
                <a16:creationId xmlns:a16="http://schemas.microsoft.com/office/drawing/2014/main" id="{226BF823-6D2C-20A2-277B-146E8403CC6F}"/>
              </a:ext>
            </a:extLst>
          </p:cNvPr>
          <p:cNvSpPr txBox="1">
            <a:spLocks/>
          </p:cNvSpPr>
          <p:nvPr/>
        </p:nvSpPr>
        <p:spPr>
          <a:xfrm>
            <a:off x="162560" y="189178"/>
            <a:ext cx="12192000" cy="6949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Arial (Body)"/>
              </a:rPr>
              <a:t>Who are we?</a:t>
            </a:r>
            <a:endParaRPr lang="en-US" sz="2000" b="1" dirty="0">
              <a:latin typeface="Arial (Body)"/>
            </a:endParaRPr>
          </a:p>
        </p:txBody>
      </p:sp>
    </p:spTree>
    <p:extLst>
      <p:ext uri="{BB962C8B-B14F-4D97-AF65-F5344CB8AC3E}">
        <p14:creationId xmlns:p14="http://schemas.microsoft.com/office/powerpoint/2010/main" val="3484108217"/>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12" name="Title 7">
            <a:extLst>
              <a:ext uri="{FF2B5EF4-FFF2-40B4-BE49-F238E27FC236}">
                <a16:creationId xmlns:a16="http://schemas.microsoft.com/office/drawing/2014/main" id="{226BF823-6D2C-20A2-277B-146E8403CC6F}"/>
              </a:ext>
            </a:extLst>
          </p:cNvPr>
          <p:cNvSpPr txBox="1">
            <a:spLocks/>
          </p:cNvSpPr>
          <p:nvPr/>
        </p:nvSpPr>
        <p:spPr>
          <a:xfrm>
            <a:off x="162560" y="189178"/>
            <a:ext cx="12192000" cy="6949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bg1">
                    <a:lumMod val="50000"/>
                  </a:schemeClr>
                </a:solidFill>
                <a:latin typeface="Arial (Body)"/>
              </a:rPr>
              <a:t>What are we doing in this workshop?</a:t>
            </a:r>
            <a:endParaRPr lang="en-US" sz="2000" b="1" dirty="0">
              <a:solidFill>
                <a:schemeClr val="bg1">
                  <a:lumMod val="50000"/>
                </a:schemeClr>
              </a:solidFill>
              <a:latin typeface="Arial (Body)"/>
            </a:endParaRPr>
          </a:p>
        </p:txBody>
      </p:sp>
      <p:sp>
        <p:nvSpPr>
          <p:cNvPr id="2" name="TextBox 1">
            <a:extLst>
              <a:ext uri="{FF2B5EF4-FFF2-40B4-BE49-F238E27FC236}">
                <a16:creationId xmlns:a16="http://schemas.microsoft.com/office/drawing/2014/main" id="{6AA04415-44B2-9888-5690-25FF399AFAE9}"/>
              </a:ext>
            </a:extLst>
          </p:cNvPr>
          <p:cNvSpPr txBox="1"/>
          <p:nvPr/>
        </p:nvSpPr>
        <p:spPr>
          <a:xfrm>
            <a:off x="436880" y="2100812"/>
            <a:ext cx="8056880" cy="3631763"/>
          </a:xfrm>
          <a:prstGeom prst="rect">
            <a:avLst/>
          </a:prstGeom>
          <a:solidFill>
            <a:srgbClr val="E3D9E8"/>
          </a:solidFill>
        </p:spPr>
        <p:txBody>
          <a:bodyPr wrap="square" rtlCol="0">
            <a:spAutoFit/>
          </a:bodyPr>
          <a:lstStyle>
            <a:defPPr>
              <a:defRPr lang="en-US"/>
            </a:defPPr>
            <a:lvl1pPr>
              <a:defRPr sz="2300" b="1" i="1">
                <a:solidFill>
                  <a:schemeClr val="bg1">
                    <a:lumMod val="50000"/>
                  </a:schemeClr>
                </a:solidFill>
              </a:defRPr>
            </a:lvl1pPr>
          </a:lstStyle>
          <a:p>
            <a:endParaRPr lang="en-GB" i="0" dirty="0"/>
          </a:p>
          <a:p>
            <a:pPr marL="342900" indent="-342900">
              <a:buFontTx/>
              <a:buChar char="-"/>
            </a:pPr>
            <a:r>
              <a:rPr lang="en-GB" i="0" dirty="0"/>
              <a:t>What is Data Culture?</a:t>
            </a:r>
          </a:p>
          <a:p>
            <a:endParaRPr lang="en-GB" i="0" dirty="0"/>
          </a:p>
          <a:p>
            <a:endParaRPr lang="en-GB" i="0" dirty="0"/>
          </a:p>
          <a:p>
            <a:pPr marL="342900" indent="-342900">
              <a:buFontTx/>
              <a:buChar char="-"/>
            </a:pPr>
            <a:r>
              <a:rPr lang="en-GB" i="0" dirty="0"/>
              <a:t>Real-life Scenario Activity – Where data culture breaks down…</a:t>
            </a:r>
          </a:p>
          <a:p>
            <a:endParaRPr lang="en-GB" i="0" dirty="0"/>
          </a:p>
          <a:p>
            <a:endParaRPr lang="en-GB" i="0" dirty="0"/>
          </a:p>
          <a:p>
            <a:pPr marL="342900" indent="-342900">
              <a:buFontTx/>
              <a:buChar char="-"/>
            </a:pPr>
            <a:r>
              <a:rPr lang="en-GB" i="0" dirty="0"/>
              <a:t>Discussion and Wrap-Up</a:t>
            </a:r>
          </a:p>
          <a:p>
            <a:endParaRPr lang="en-GB" i="0" dirty="0"/>
          </a:p>
        </p:txBody>
      </p:sp>
      <p:pic>
        <p:nvPicPr>
          <p:cNvPr id="3" name="Picture 2">
            <a:extLst>
              <a:ext uri="{FF2B5EF4-FFF2-40B4-BE49-F238E27FC236}">
                <a16:creationId xmlns:a16="http://schemas.microsoft.com/office/drawing/2014/main" id="{13BCB4D3-0649-23DC-599B-6A201F702591}"/>
              </a:ext>
            </a:extLst>
          </p:cNvPr>
          <p:cNvPicPr>
            <a:picLocks noChangeAspect="1"/>
          </p:cNvPicPr>
          <p:nvPr/>
        </p:nvPicPr>
        <p:blipFill>
          <a:blip r:embed="rId3"/>
          <a:srcRect/>
          <a:stretch/>
        </p:blipFill>
        <p:spPr>
          <a:xfrm>
            <a:off x="8961120" y="2100812"/>
            <a:ext cx="2989040" cy="2656375"/>
          </a:xfrm>
          <a:prstGeom prst="rect">
            <a:avLst/>
          </a:prstGeom>
        </p:spPr>
      </p:pic>
    </p:spTree>
    <p:extLst>
      <p:ext uri="{BB962C8B-B14F-4D97-AF65-F5344CB8AC3E}">
        <p14:creationId xmlns:p14="http://schemas.microsoft.com/office/powerpoint/2010/main" val="368388616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12" name="Title 7">
            <a:extLst>
              <a:ext uri="{FF2B5EF4-FFF2-40B4-BE49-F238E27FC236}">
                <a16:creationId xmlns:a16="http://schemas.microsoft.com/office/drawing/2014/main" id="{226BF823-6D2C-20A2-277B-146E8403CC6F}"/>
              </a:ext>
            </a:extLst>
          </p:cNvPr>
          <p:cNvSpPr txBox="1">
            <a:spLocks/>
          </p:cNvSpPr>
          <p:nvPr/>
        </p:nvSpPr>
        <p:spPr>
          <a:xfrm>
            <a:off x="162560" y="189178"/>
            <a:ext cx="12192000" cy="6949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chemeClr val="bg1">
                    <a:lumMod val="50000"/>
                  </a:schemeClr>
                </a:solidFill>
                <a:latin typeface="Arial (Body)"/>
              </a:rPr>
              <a:t>What are we doing in this workshop?</a:t>
            </a:r>
            <a:endParaRPr lang="en-US" sz="2000" b="1" dirty="0">
              <a:solidFill>
                <a:schemeClr val="bg1">
                  <a:lumMod val="50000"/>
                </a:schemeClr>
              </a:solidFill>
              <a:latin typeface="Arial (Body)"/>
            </a:endParaRPr>
          </a:p>
        </p:txBody>
      </p:sp>
      <p:sp>
        <p:nvSpPr>
          <p:cNvPr id="5" name="TextBox 4">
            <a:extLst>
              <a:ext uri="{FF2B5EF4-FFF2-40B4-BE49-F238E27FC236}">
                <a16:creationId xmlns:a16="http://schemas.microsoft.com/office/drawing/2014/main" id="{B9C1EBF7-0DA8-A89A-9823-8DDBE9B2AFFC}"/>
              </a:ext>
            </a:extLst>
          </p:cNvPr>
          <p:cNvSpPr txBox="1"/>
          <p:nvPr/>
        </p:nvSpPr>
        <p:spPr>
          <a:xfrm>
            <a:off x="406400" y="1941723"/>
            <a:ext cx="7843520" cy="3757695"/>
          </a:xfrm>
          <a:prstGeom prst="rect">
            <a:avLst/>
          </a:prstGeom>
          <a:solidFill>
            <a:srgbClr val="E3D9E8"/>
          </a:solidFill>
        </p:spPr>
        <p:txBody>
          <a:bodyPr wrap="square" rtlCol="0">
            <a:spAutoFit/>
          </a:bodyPr>
          <a:lstStyle/>
          <a:p>
            <a:r>
              <a:rPr lang="en-US" sz="2300" b="1" i="1" dirty="0">
                <a:solidFill>
                  <a:schemeClr val="bg1">
                    <a:lumMod val="50000"/>
                  </a:schemeClr>
                </a:solidFill>
              </a:rPr>
              <a:t>What should you take away from today?</a:t>
            </a:r>
          </a:p>
          <a:p>
            <a:endParaRPr lang="en-US" sz="2300" dirty="0">
              <a:solidFill>
                <a:schemeClr val="bg1">
                  <a:lumMod val="50000"/>
                </a:schemeClr>
              </a:solidFill>
            </a:endParaRPr>
          </a:p>
          <a:p>
            <a:endParaRPr lang="en-US" sz="2300" dirty="0">
              <a:solidFill>
                <a:schemeClr val="bg1">
                  <a:lumMod val="50000"/>
                </a:schemeClr>
              </a:solidFill>
            </a:endParaRPr>
          </a:p>
          <a:p>
            <a:pPr>
              <a:lnSpc>
                <a:spcPct val="150000"/>
              </a:lnSpc>
            </a:pPr>
            <a:r>
              <a:rPr lang="en-US" sz="2300" b="1" i="1" dirty="0">
                <a:solidFill>
                  <a:srgbClr val="0070C0"/>
                </a:solidFill>
              </a:rPr>
              <a:t>We'll explore data culture—how every company has one, whether positive or negative—and how it influences a company's ability to be data-driven or evidence-based. Understanding this impact can help organisation's thrive and achieve their goals.</a:t>
            </a:r>
            <a:endParaRPr lang="en-GB" sz="2300" b="1" i="1" dirty="0">
              <a:solidFill>
                <a:srgbClr val="0070C0"/>
              </a:solidFill>
            </a:endParaRPr>
          </a:p>
        </p:txBody>
      </p:sp>
      <p:pic>
        <p:nvPicPr>
          <p:cNvPr id="2" name="Picture 1" descr="A picture containing sketch, drawing, design, art&#10;&#10;Description automatically generated">
            <a:extLst>
              <a:ext uri="{FF2B5EF4-FFF2-40B4-BE49-F238E27FC236}">
                <a16:creationId xmlns:a16="http://schemas.microsoft.com/office/drawing/2014/main" id="{E26DE776-FF34-28AC-43EB-90F7BAC65FA5}"/>
              </a:ext>
            </a:extLst>
          </p:cNvPr>
          <p:cNvPicPr>
            <a:picLocks noChangeAspect="1"/>
          </p:cNvPicPr>
          <p:nvPr/>
        </p:nvPicPr>
        <p:blipFill>
          <a:blip r:embed="rId3"/>
          <a:stretch>
            <a:fillRect/>
          </a:stretch>
        </p:blipFill>
        <p:spPr>
          <a:xfrm>
            <a:off x="8794688" y="2078883"/>
            <a:ext cx="2990912" cy="3167506"/>
          </a:xfrm>
          <a:prstGeom prst="rect">
            <a:avLst/>
          </a:prstGeom>
        </p:spPr>
      </p:pic>
    </p:spTree>
    <p:extLst>
      <p:ext uri="{BB962C8B-B14F-4D97-AF65-F5344CB8AC3E}">
        <p14:creationId xmlns:p14="http://schemas.microsoft.com/office/powerpoint/2010/main" val="3282453086"/>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7" name="Title 7">
            <a:extLst>
              <a:ext uri="{FF2B5EF4-FFF2-40B4-BE49-F238E27FC236}">
                <a16:creationId xmlns:a16="http://schemas.microsoft.com/office/drawing/2014/main" id="{445228F5-A3E5-37D3-9B73-F2877EF6AF70}"/>
              </a:ext>
            </a:extLst>
          </p:cNvPr>
          <p:cNvSpPr txBox="1">
            <a:spLocks/>
          </p:cNvSpPr>
          <p:nvPr/>
        </p:nvSpPr>
        <p:spPr>
          <a:xfrm>
            <a:off x="0" y="599358"/>
            <a:ext cx="12192000" cy="1431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00B050"/>
                </a:solidFill>
                <a:latin typeface="Arial (Body)"/>
              </a:rPr>
              <a:t>What is Data Culture?</a:t>
            </a:r>
            <a:endParaRPr lang="en-US" sz="900" b="1" dirty="0">
              <a:solidFill>
                <a:srgbClr val="00B050"/>
              </a:solidFill>
              <a:latin typeface="Arial (Body)"/>
            </a:endParaRPr>
          </a:p>
          <a:p>
            <a:pPr algn="ctr"/>
            <a:endParaRPr lang="en-US" sz="2000" b="1" dirty="0">
              <a:solidFill>
                <a:srgbClr val="0070C0"/>
              </a:solidFill>
              <a:latin typeface="Arial (Body)"/>
            </a:endParaRPr>
          </a:p>
        </p:txBody>
      </p:sp>
      <p:pic>
        <p:nvPicPr>
          <p:cNvPr id="5" name="Picture 4">
            <a:extLst>
              <a:ext uri="{FF2B5EF4-FFF2-40B4-BE49-F238E27FC236}">
                <a16:creationId xmlns:a16="http://schemas.microsoft.com/office/drawing/2014/main" id="{0B7825D3-D4DB-15E4-6F11-73E666FF2D64}"/>
              </a:ext>
            </a:extLst>
          </p:cNvPr>
          <p:cNvPicPr>
            <a:picLocks noChangeAspect="1"/>
          </p:cNvPicPr>
          <p:nvPr/>
        </p:nvPicPr>
        <p:blipFill>
          <a:blip r:embed="rId3"/>
          <a:stretch>
            <a:fillRect/>
          </a:stretch>
        </p:blipFill>
        <p:spPr>
          <a:xfrm>
            <a:off x="4266944" y="2269379"/>
            <a:ext cx="3658111" cy="3105583"/>
          </a:xfrm>
          <a:prstGeom prst="rect">
            <a:avLst/>
          </a:prstGeom>
        </p:spPr>
      </p:pic>
    </p:spTree>
    <p:extLst>
      <p:ext uri="{BB962C8B-B14F-4D97-AF65-F5344CB8AC3E}">
        <p14:creationId xmlns:p14="http://schemas.microsoft.com/office/powerpoint/2010/main" val="406863933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
            <a:extLst>
              <a:ext uri="{FF2B5EF4-FFF2-40B4-BE49-F238E27FC236}">
                <a16:creationId xmlns:a16="http://schemas.microsoft.com/office/drawing/2014/main" id="{17FB1A45-5690-3640-7158-964A2FD88993}"/>
              </a:ext>
            </a:extLst>
          </p:cNvPr>
          <p:cNvSpPr txBox="1">
            <a:spLocks/>
          </p:cNvSpPr>
          <p:nvPr/>
        </p:nvSpPr>
        <p:spPr>
          <a:xfrm>
            <a:off x="509926" y="701196"/>
            <a:ext cx="6954362" cy="3006100"/>
          </a:xfrm>
        </p:spPr>
        <p:txBody>
          <a:bodyPr/>
          <a:lstStyle>
            <a:defPPr>
              <a:defRPr lang="en-US"/>
            </a:defPPr>
            <a:lvl1pPr marL="0" algn="l" defTabSz="1172180" rtl="0" eaLnBrk="1" latinLnBrk="0" hangingPunct="1">
              <a:defRPr sz="2308" kern="1200">
                <a:solidFill>
                  <a:schemeClr val="tx1"/>
                </a:solidFill>
                <a:latin typeface="+mn-lt"/>
                <a:ea typeface="+mn-ea"/>
                <a:cs typeface="+mn-cs"/>
              </a:defRPr>
            </a:lvl1pPr>
            <a:lvl2pPr marL="586091" algn="l" defTabSz="1172180" rtl="0" eaLnBrk="1" latinLnBrk="0" hangingPunct="1">
              <a:defRPr sz="2308" kern="1200">
                <a:solidFill>
                  <a:schemeClr val="tx1"/>
                </a:solidFill>
                <a:latin typeface="+mn-lt"/>
                <a:ea typeface="+mn-ea"/>
                <a:cs typeface="+mn-cs"/>
              </a:defRPr>
            </a:lvl2pPr>
            <a:lvl3pPr marL="1172180" algn="l" defTabSz="1172180" rtl="0" eaLnBrk="1" latinLnBrk="0" hangingPunct="1">
              <a:defRPr sz="2308" kern="1200">
                <a:solidFill>
                  <a:schemeClr val="tx1"/>
                </a:solidFill>
                <a:latin typeface="+mn-lt"/>
                <a:ea typeface="+mn-ea"/>
                <a:cs typeface="+mn-cs"/>
              </a:defRPr>
            </a:lvl3pPr>
            <a:lvl4pPr marL="1758271" algn="l" defTabSz="1172180" rtl="0" eaLnBrk="1" latinLnBrk="0" hangingPunct="1">
              <a:defRPr sz="2308" kern="1200">
                <a:solidFill>
                  <a:schemeClr val="tx1"/>
                </a:solidFill>
                <a:latin typeface="+mn-lt"/>
                <a:ea typeface="+mn-ea"/>
                <a:cs typeface="+mn-cs"/>
              </a:defRPr>
            </a:lvl4pPr>
            <a:lvl5pPr marL="2344361" algn="l" defTabSz="1172180" rtl="0" eaLnBrk="1" latinLnBrk="0" hangingPunct="1">
              <a:defRPr sz="2308" kern="1200">
                <a:solidFill>
                  <a:schemeClr val="tx1"/>
                </a:solidFill>
                <a:latin typeface="+mn-lt"/>
                <a:ea typeface="+mn-ea"/>
                <a:cs typeface="+mn-cs"/>
              </a:defRPr>
            </a:lvl5pPr>
            <a:lvl6pPr marL="2930452" algn="l" defTabSz="1172180" rtl="0" eaLnBrk="1" latinLnBrk="0" hangingPunct="1">
              <a:defRPr sz="2308" kern="1200">
                <a:solidFill>
                  <a:schemeClr val="tx1"/>
                </a:solidFill>
                <a:latin typeface="+mn-lt"/>
                <a:ea typeface="+mn-ea"/>
                <a:cs typeface="+mn-cs"/>
              </a:defRPr>
            </a:lvl6pPr>
            <a:lvl7pPr marL="3516541" algn="l" defTabSz="1172180" rtl="0" eaLnBrk="1" latinLnBrk="0" hangingPunct="1">
              <a:defRPr sz="2308" kern="1200">
                <a:solidFill>
                  <a:schemeClr val="tx1"/>
                </a:solidFill>
                <a:latin typeface="+mn-lt"/>
                <a:ea typeface="+mn-ea"/>
                <a:cs typeface="+mn-cs"/>
              </a:defRPr>
            </a:lvl7pPr>
            <a:lvl8pPr marL="4102632" algn="l" defTabSz="1172180" rtl="0" eaLnBrk="1" latinLnBrk="0" hangingPunct="1">
              <a:defRPr sz="2308" kern="1200">
                <a:solidFill>
                  <a:schemeClr val="tx1"/>
                </a:solidFill>
                <a:latin typeface="+mn-lt"/>
                <a:ea typeface="+mn-ea"/>
                <a:cs typeface="+mn-cs"/>
              </a:defRPr>
            </a:lvl8pPr>
            <a:lvl9pPr marL="4688723" algn="l" defTabSz="1172180" rtl="0" eaLnBrk="1" latinLnBrk="0" hangingPunct="1">
              <a:defRPr sz="2308" kern="1200">
                <a:solidFill>
                  <a:schemeClr val="tx1"/>
                </a:solidFill>
                <a:latin typeface="+mn-lt"/>
                <a:ea typeface="+mn-ea"/>
                <a:cs typeface="+mn-cs"/>
              </a:defRPr>
            </a:lvl9pPr>
          </a:lstStyle>
          <a:p>
            <a:r>
              <a:rPr lang="en-US" sz="3000" b="1" i="1" dirty="0">
                <a:solidFill>
                  <a:srgbClr val="C00000"/>
                </a:solidFill>
                <a:latin typeface="Arial (Body)"/>
              </a:rPr>
              <a:t>In a nutshell…</a:t>
            </a:r>
          </a:p>
          <a:p>
            <a:endParaRPr lang="en-US" sz="3000" b="1" i="1" dirty="0">
              <a:solidFill>
                <a:srgbClr val="C00000"/>
              </a:solidFill>
              <a:latin typeface="Arial (Body)"/>
            </a:endParaRPr>
          </a:p>
          <a:p>
            <a:endParaRPr lang="en-US" sz="800" b="1" dirty="0">
              <a:latin typeface="Arial (Body)"/>
            </a:endParaRPr>
          </a:p>
          <a:p>
            <a:r>
              <a:rPr lang="en-US" sz="3000" b="1" dirty="0">
                <a:latin typeface="Arial (Body)"/>
              </a:rPr>
              <a:t>"Data culture is not about what data tools or models are used; it focuses on how data is leveraged to drive growth and enhance the company."</a:t>
            </a:r>
          </a:p>
        </p:txBody>
      </p:sp>
      <p:sp>
        <p:nvSpPr>
          <p:cNvPr id="8" name="TextBox 7">
            <a:extLst>
              <a:ext uri="{FF2B5EF4-FFF2-40B4-BE49-F238E27FC236}">
                <a16:creationId xmlns:a16="http://schemas.microsoft.com/office/drawing/2014/main" id="{AF521611-0925-3E78-D841-8059934A0E73}"/>
              </a:ext>
            </a:extLst>
          </p:cNvPr>
          <p:cNvSpPr txBox="1"/>
          <p:nvPr/>
        </p:nvSpPr>
        <p:spPr>
          <a:xfrm>
            <a:off x="509926" y="5244973"/>
            <a:ext cx="9111152" cy="830997"/>
          </a:xfrm>
          <a:prstGeom prst="rect">
            <a:avLst/>
          </a:prstGeom>
          <a:noFill/>
        </p:spPr>
        <p:txBody>
          <a:bodyPr wrap="square">
            <a:spAutoFit/>
          </a:bodyPr>
          <a:lstStyle/>
          <a:p>
            <a:r>
              <a:rPr lang="en-US" sz="2400" b="1" i="1" dirty="0">
                <a:solidFill>
                  <a:srgbClr val="C00000"/>
                </a:solidFill>
                <a:latin typeface="Arial (Body)"/>
              </a:rPr>
              <a:t>Throughout the workshop, you will be explore what this entails and how to achieve it in greater depth…</a:t>
            </a:r>
          </a:p>
        </p:txBody>
      </p:sp>
      <p:pic>
        <p:nvPicPr>
          <p:cNvPr id="6" name="Picture 5">
            <a:extLst>
              <a:ext uri="{FF2B5EF4-FFF2-40B4-BE49-F238E27FC236}">
                <a16:creationId xmlns:a16="http://schemas.microsoft.com/office/drawing/2014/main" id="{E0CCEDED-F0F1-D2D3-46B9-6ADB743C6F67}"/>
              </a:ext>
            </a:extLst>
          </p:cNvPr>
          <p:cNvPicPr>
            <a:picLocks noChangeAspect="1"/>
          </p:cNvPicPr>
          <p:nvPr/>
        </p:nvPicPr>
        <p:blipFill>
          <a:blip r:embed="rId3"/>
          <a:stretch>
            <a:fillRect/>
          </a:stretch>
        </p:blipFill>
        <p:spPr>
          <a:xfrm>
            <a:off x="7956640" y="1625126"/>
            <a:ext cx="3847851" cy="2082170"/>
          </a:xfrm>
          <a:prstGeom prst="rect">
            <a:avLst/>
          </a:prstGeom>
        </p:spPr>
      </p:pic>
    </p:spTree>
    <p:extLst>
      <p:ext uri="{BB962C8B-B14F-4D97-AF65-F5344CB8AC3E}">
        <p14:creationId xmlns:p14="http://schemas.microsoft.com/office/powerpoint/2010/main" val="4203059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8" name="TextBox 7">
            <a:extLst>
              <a:ext uri="{FF2B5EF4-FFF2-40B4-BE49-F238E27FC236}">
                <a16:creationId xmlns:a16="http://schemas.microsoft.com/office/drawing/2014/main" id="{3FD5BC73-A245-557A-6A8B-C61DE49AFB5F}"/>
              </a:ext>
            </a:extLst>
          </p:cNvPr>
          <p:cNvSpPr txBox="1"/>
          <p:nvPr/>
        </p:nvSpPr>
        <p:spPr>
          <a:xfrm>
            <a:off x="6477712" y="2182505"/>
            <a:ext cx="4950454" cy="1246495"/>
          </a:xfrm>
          <a:prstGeom prst="rect">
            <a:avLst/>
          </a:prstGeom>
          <a:noFill/>
        </p:spPr>
        <p:txBody>
          <a:bodyPr wrap="square">
            <a:spAutoFit/>
          </a:bodyPr>
          <a:lstStyle/>
          <a:p>
            <a:pPr algn="ctr"/>
            <a:r>
              <a:rPr lang="en-GB" sz="2500" b="1" i="0" dirty="0">
                <a:solidFill>
                  <a:srgbClr val="5E17EB"/>
                </a:solidFill>
                <a:effectLst/>
                <a:latin typeface="+mj-lt"/>
              </a:rPr>
              <a:t>Data culture refers to how the whole organisation leverages data to generate value</a:t>
            </a:r>
            <a:endParaRPr lang="en-GB" sz="2500" b="1" dirty="0">
              <a:solidFill>
                <a:srgbClr val="5E17EB"/>
              </a:solidFill>
              <a:latin typeface="+mj-lt"/>
            </a:endParaRPr>
          </a:p>
        </p:txBody>
      </p:sp>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7" name="Title 7">
            <a:extLst>
              <a:ext uri="{FF2B5EF4-FFF2-40B4-BE49-F238E27FC236}">
                <a16:creationId xmlns:a16="http://schemas.microsoft.com/office/drawing/2014/main" id="{445228F5-A3E5-37D3-9B73-F2877EF6AF70}"/>
              </a:ext>
            </a:extLst>
          </p:cNvPr>
          <p:cNvSpPr txBox="1">
            <a:spLocks/>
          </p:cNvSpPr>
          <p:nvPr/>
        </p:nvSpPr>
        <p:spPr>
          <a:xfrm>
            <a:off x="191244" y="0"/>
            <a:ext cx="5120561" cy="10652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a:t>Data Culture</a:t>
            </a:r>
          </a:p>
        </p:txBody>
      </p:sp>
      <p:sp>
        <p:nvSpPr>
          <p:cNvPr id="3" name="TextBox 2">
            <a:extLst>
              <a:ext uri="{FF2B5EF4-FFF2-40B4-BE49-F238E27FC236}">
                <a16:creationId xmlns:a16="http://schemas.microsoft.com/office/drawing/2014/main" id="{87FB4963-41C8-3731-B2BC-CFC53ADBA13B}"/>
              </a:ext>
            </a:extLst>
          </p:cNvPr>
          <p:cNvSpPr txBox="1"/>
          <p:nvPr/>
        </p:nvSpPr>
        <p:spPr>
          <a:xfrm>
            <a:off x="84748" y="1079339"/>
            <a:ext cx="6011252" cy="830997"/>
          </a:xfrm>
          <a:prstGeom prst="rect">
            <a:avLst/>
          </a:prstGeom>
          <a:noFill/>
        </p:spPr>
        <p:txBody>
          <a:bodyPr wrap="square">
            <a:spAutoFit/>
          </a:bodyPr>
          <a:lstStyle/>
          <a:p>
            <a:pPr algn="ctr"/>
            <a:r>
              <a:rPr lang="en-GB" sz="2400" b="0" i="0" dirty="0">
                <a:solidFill>
                  <a:srgbClr val="000000"/>
                </a:solidFill>
                <a:effectLst/>
                <a:latin typeface="+mj-lt"/>
              </a:rPr>
              <a:t>Data Culture is </a:t>
            </a:r>
            <a:r>
              <a:rPr lang="en-GB" sz="2400" b="0" i="0" dirty="0">
                <a:solidFill>
                  <a:srgbClr val="00B050"/>
                </a:solidFill>
                <a:effectLst/>
                <a:latin typeface="+mj-lt"/>
              </a:rPr>
              <a:t>owned</a:t>
            </a:r>
            <a:r>
              <a:rPr lang="en-GB" sz="2400" b="0" i="0" dirty="0">
                <a:solidFill>
                  <a:srgbClr val="000000"/>
                </a:solidFill>
                <a:effectLst/>
                <a:latin typeface="+mj-lt"/>
              </a:rPr>
              <a:t> by the organisation but </a:t>
            </a:r>
            <a:r>
              <a:rPr lang="en-GB" sz="2400" b="0" i="0" dirty="0">
                <a:solidFill>
                  <a:srgbClr val="00B050"/>
                </a:solidFill>
                <a:effectLst/>
                <a:latin typeface="+mj-lt"/>
              </a:rPr>
              <a:t>sp</a:t>
            </a:r>
            <a:r>
              <a:rPr lang="en-GB" sz="2400" dirty="0">
                <a:solidFill>
                  <a:srgbClr val="00B050"/>
                </a:solidFill>
                <a:latin typeface="+mj-lt"/>
              </a:rPr>
              <a:t>earheaded</a:t>
            </a:r>
            <a:r>
              <a:rPr lang="en-GB" sz="2400" dirty="0">
                <a:solidFill>
                  <a:srgbClr val="000000"/>
                </a:solidFill>
                <a:latin typeface="+mj-lt"/>
              </a:rPr>
              <a:t> by the CEO</a:t>
            </a:r>
            <a:endParaRPr lang="en-GB" sz="2400" b="0" i="0" dirty="0">
              <a:solidFill>
                <a:srgbClr val="000000"/>
              </a:solidFill>
              <a:effectLst/>
              <a:latin typeface="+mj-lt"/>
            </a:endParaRPr>
          </a:p>
        </p:txBody>
      </p:sp>
      <p:sp>
        <p:nvSpPr>
          <p:cNvPr id="12" name="TextBox 11">
            <a:extLst>
              <a:ext uri="{FF2B5EF4-FFF2-40B4-BE49-F238E27FC236}">
                <a16:creationId xmlns:a16="http://schemas.microsoft.com/office/drawing/2014/main" id="{593AAE18-47A5-A216-E9A8-2565BCBDCB92}"/>
              </a:ext>
            </a:extLst>
          </p:cNvPr>
          <p:cNvSpPr txBox="1"/>
          <p:nvPr/>
        </p:nvSpPr>
        <p:spPr>
          <a:xfrm>
            <a:off x="6477712" y="4312821"/>
            <a:ext cx="4950455" cy="1631216"/>
          </a:xfrm>
          <a:prstGeom prst="rect">
            <a:avLst/>
          </a:prstGeom>
          <a:noFill/>
        </p:spPr>
        <p:txBody>
          <a:bodyPr wrap="square">
            <a:spAutoFit/>
          </a:bodyPr>
          <a:lstStyle/>
          <a:p>
            <a:pPr algn="ctr"/>
            <a:r>
              <a:rPr lang="en-GB" sz="2500" b="1" i="0" dirty="0">
                <a:solidFill>
                  <a:srgbClr val="FFC200"/>
                </a:solidFill>
                <a:effectLst/>
                <a:latin typeface="+mj-lt"/>
              </a:rPr>
              <a:t>Data culture involves the entire organisation taking responsibility and ownership for fostering its growth</a:t>
            </a:r>
            <a:endParaRPr lang="en-GB" sz="2500" b="1" dirty="0">
              <a:solidFill>
                <a:srgbClr val="FFC200"/>
              </a:solidFill>
              <a:latin typeface="+mj-lt"/>
            </a:endParaRPr>
          </a:p>
        </p:txBody>
      </p:sp>
      <p:pic>
        <p:nvPicPr>
          <p:cNvPr id="5" name="Picture 4">
            <a:extLst>
              <a:ext uri="{FF2B5EF4-FFF2-40B4-BE49-F238E27FC236}">
                <a16:creationId xmlns:a16="http://schemas.microsoft.com/office/drawing/2014/main" id="{A3692A41-24BC-1409-7AE5-10E987DFD2A9}"/>
              </a:ext>
            </a:extLst>
          </p:cNvPr>
          <p:cNvPicPr>
            <a:picLocks noChangeAspect="1"/>
          </p:cNvPicPr>
          <p:nvPr/>
        </p:nvPicPr>
        <p:blipFill>
          <a:blip r:embed="rId3"/>
          <a:stretch>
            <a:fillRect/>
          </a:stretch>
        </p:blipFill>
        <p:spPr>
          <a:xfrm>
            <a:off x="818344" y="2301025"/>
            <a:ext cx="4544059" cy="3419952"/>
          </a:xfrm>
          <a:prstGeom prst="rect">
            <a:avLst/>
          </a:prstGeom>
        </p:spPr>
      </p:pic>
      <p:sp>
        <p:nvSpPr>
          <p:cNvPr id="2" name="Slide Number Placeholder 1">
            <a:extLst>
              <a:ext uri="{FF2B5EF4-FFF2-40B4-BE49-F238E27FC236}">
                <a16:creationId xmlns:a16="http://schemas.microsoft.com/office/drawing/2014/main" id="{CCB5BFFF-4314-558B-47DB-19455F6A93E1}"/>
              </a:ext>
            </a:extLst>
          </p:cNvPr>
          <p:cNvSpPr>
            <a:spLocks noGrp="1"/>
          </p:cNvSpPr>
          <p:nvPr>
            <p:ph type="sldNum" sz="quarter" idx="12"/>
          </p:nvPr>
        </p:nvSpPr>
        <p:spPr/>
        <p:txBody>
          <a:bodyPr/>
          <a:lstStyle/>
          <a:p>
            <a:fld id="{3407867C-75BD-4144-8CEA-4B3EDFFD368C}" type="slidenum">
              <a:rPr lang="en-US" smtClean="0"/>
              <a:pPr/>
              <a:t>7</a:t>
            </a:fld>
            <a:endParaRPr lang="en-US"/>
          </a:p>
        </p:txBody>
      </p:sp>
    </p:spTree>
    <p:extLst>
      <p:ext uri="{BB962C8B-B14F-4D97-AF65-F5344CB8AC3E}">
        <p14:creationId xmlns:p14="http://schemas.microsoft.com/office/powerpoint/2010/main" val="4750200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Arial (Body)"/>
              <a:ea typeface="+mj-ea"/>
              <a:cs typeface="+mj-cs"/>
            </a:endParaRPr>
          </a:p>
        </p:txBody>
      </p:sp>
      <p:sp>
        <p:nvSpPr>
          <p:cNvPr id="7" name="Title 7">
            <a:extLst>
              <a:ext uri="{FF2B5EF4-FFF2-40B4-BE49-F238E27FC236}">
                <a16:creationId xmlns:a16="http://schemas.microsoft.com/office/drawing/2014/main" id="{445228F5-A3E5-37D3-9B73-F2877EF6AF70}"/>
              </a:ext>
            </a:extLst>
          </p:cNvPr>
          <p:cNvSpPr txBox="1">
            <a:spLocks/>
          </p:cNvSpPr>
          <p:nvPr/>
        </p:nvSpPr>
        <p:spPr>
          <a:xfrm>
            <a:off x="324674" y="105056"/>
            <a:ext cx="5120561" cy="106523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Arial (Body)"/>
              </a:rPr>
              <a:t>Data Culture</a:t>
            </a:r>
          </a:p>
        </p:txBody>
      </p:sp>
      <p:sp>
        <p:nvSpPr>
          <p:cNvPr id="3" name="TextBox 2">
            <a:extLst>
              <a:ext uri="{FF2B5EF4-FFF2-40B4-BE49-F238E27FC236}">
                <a16:creationId xmlns:a16="http://schemas.microsoft.com/office/drawing/2014/main" id="{87FB4963-41C8-3731-B2BC-CFC53ADBA13B}"/>
              </a:ext>
            </a:extLst>
          </p:cNvPr>
          <p:cNvSpPr txBox="1"/>
          <p:nvPr/>
        </p:nvSpPr>
        <p:spPr>
          <a:xfrm>
            <a:off x="1007162" y="1338952"/>
            <a:ext cx="10177671" cy="1200329"/>
          </a:xfrm>
          <a:prstGeom prst="rect">
            <a:avLst/>
          </a:prstGeom>
          <a:noFill/>
        </p:spPr>
        <p:txBody>
          <a:bodyPr wrap="square">
            <a:spAutoFit/>
          </a:bodyPr>
          <a:lstStyle/>
          <a:p>
            <a:pPr algn="ctr"/>
            <a:r>
              <a:rPr lang="en-GB" sz="2400" dirty="0">
                <a:solidFill>
                  <a:srgbClr val="000000"/>
                </a:solidFill>
                <a:latin typeface="Arial (Body)"/>
              </a:rPr>
              <a:t>Data Culture follows a </a:t>
            </a:r>
            <a:r>
              <a:rPr lang="en-GB" sz="2400" dirty="0">
                <a:solidFill>
                  <a:srgbClr val="00B050"/>
                </a:solidFill>
                <a:latin typeface="Arial (Body)"/>
              </a:rPr>
              <a:t>top-down</a:t>
            </a:r>
            <a:r>
              <a:rPr lang="en-GB" sz="2400" dirty="0">
                <a:solidFill>
                  <a:srgbClr val="000000"/>
                </a:solidFill>
                <a:latin typeface="Arial (Body)"/>
              </a:rPr>
              <a:t> approach, with the CEO and senior leadership team </a:t>
            </a:r>
            <a:r>
              <a:rPr lang="en-GB" sz="2400" dirty="0">
                <a:solidFill>
                  <a:srgbClr val="00B050"/>
                </a:solidFill>
                <a:latin typeface="Arial (Body)"/>
              </a:rPr>
              <a:t>driving</a:t>
            </a:r>
            <a:r>
              <a:rPr lang="en-GB" sz="2400" dirty="0">
                <a:solidFill>
                  <a:srgbClr val="000000"/>
                </a:solidFill>
                <a:latin typeface="Arial (Body)"/>
              </a:rPr>
              <a:t> innovation, collaboration, governance and staff training to </a:t>
            </a:r>
            <a:r>
              <a:rPr lang="en-GB" sz="2400" dirty="0">
                <a:solidFill>
                  <a:srgbClr val="00B050"/>
                </a:solidFill>
                <a:latin typeface="Arial (Body)"/>
              </a:rPr>
              <a:t>maximise</a:t>
            </a:r>
            <a:r>
              <a:rPr lang="en-GB" sz="2400" dirty="0">
                <a:solidFill>
                  <a:srgbClr val="000000"/>
                </a:solidFill>
                <a:latin typeface="Arial (Body)"/>
              </a:rPr>
              <a:t> the </a:t>
            </a:r>
            <a:r>
              <a:rPr lang="en-GB" sz="2400" dirty="0">
                <a:solidFill>
                  <a:srgbClr val="00B050"/>
                </a:solidFill>
                <a:latin typeface="Arial (Body)"/>
              </a:rPr>
              <a:t>effective</a:t>
            </a:r>
            <a:r>
              <a:rPr lang="en-GB" sz="2400" dirty="0">
                <a:solidFill>
                  <a:srgbClr val="000000"/>
                </a:solidFill>
                <a:latin typeface="Arial (Body)"/>
              </a:rPr>
              <a:t> use of data.</a:t>
            </a:r>
            <a:endParaRPr lang="en-GB" sz="2400" dirty="0">
              <a:solidFill>
                <a:srgbClr val="00B050"/>
              </a:solidFill>
              <a:latin typeface="Arial (Body)"/>
            </a:endParaRPr>
          </a:p>
        </p:txBody>
      </p:sp>
      <p:pic>
        <p:nvPicPr>
          <p:cNvPr id="6" name="Picture 5">
            <a:extLst>
              <a:ext uri="{FF2B5EF4-FFF2-40B4-BE49-F238E27FC236}">
                <a16:creationId xmlns:a16="http://schemas.microsoft.com/office/drawing/2014/main" id="{7094BE4A-235D-7568-B849-D3916BFA6E46}"/>
              </a:ext>
            </a:extLst>
          </p:cNvPr>
          <p:cNvPicPr>
            <a:picLocks noChangeAspect="1"/>
          </p:cNvPicPr>
          <p:nvPr/>
        </p:nvPicPr>
        <p:blipFill>
          <a:blip r:embed="rId3"/>
          <a:stretch>
            <a:fillRect/>
          </a:stretch>
        </p:blipFill>
        <p:spPr>
          <a:xfrm>
            <a:off x="4615905" y="2740593"/>
            <a:ext cx="2960187" cy="1994341"/>
          </a:xfrm>
          <a:prstGeom prst="rect">
            <a:avLst/>
          </a:prstGeom>
        </p:spPr>
      </p:pic>
      <p:sp>
        <p:nvSpPr>
          <p:cNvPr id="8" name="TextBox 7">
            <a:extLst>
              <a:ext uri="{FF2B5EF4-FFF2-40B4-BE49-F238E27FC236}">
                <a16:creationId xmlns:a16="http://schemas.microsoft.com/office/drawing/2014/main" id="{B1E3B698-219E-6F78-5A08-96B7B7E72771}"/>
              </a:ext>
            </a:extLst>
          </p:cNvPr>
          <p:cNvSpPr txBox="1"/>
          <p:nvPr/>
        </p:nvSpPr>
        <p:spPr>
          <a:xfrm>
            <a:off x="1007162" y="4926876"/>
            <a:ext cx="10177671" cy="1200329"/>
          </a:xfrm>
          <a:prstGeom prst="rect">
            <a:avLst/>
          </a:prstGeom>
          <a:noFill/>
        </p:spPr>
        <p:txBody>
          <a:bodyPr wrap="square">
            <a:spAutoFit/>
          </a:bodyPr>
          <a:lstStyle/>
          <a:p>
            <a:pPr algn="ctr"/>
            <a:r>
              <a:rPr lang="en-US" sz="2400" dirty="0">
                <a:solidFill>
                  <a:srgbClr val="000000"/>
                </a:solidFill>
                <a:latin typeface="Arial (Body)"/>
              </a:rPr>
              <a:t>This </a:t>
            </a:r>
            <a:r>
              <a:rPr lang="en-US" sz="2400" dirty="0">
                <a:solidFill>
                  <a:srgbClr val="00B050"/>
                </a:solidFill>
                <a:latin typeface="Arial (Body)"/>
              </a:rPr>
              <a:t>enables</a:t>
            </a:r>
            <a:r>
              <a:rPr lang="en-US" sz="2400" dirty="0">
                <a:solidFill>
                  <a:srgbClr val="000000"/>
                </a:solidFill>
                <a:latin typeface="Arial (Body)"/>
              </a:rPr>
              <a:t> the employees of the organisation to </a:t>
            </a:r>
            <a:r>
              <a:rPr lang="en-US" sz="2400" dirty="0">
                <a:solidFill>
                  <a:srgbClr val="00B050"/>
                </a:solidFill>
                <a:latin typeface="Arial (Body)"/>
              </a:rPr>
              <a:t>gradually</a:t>
            </a:r>
            <a:r>
              <a:rPr lang="en-US" sz="2400" dirty="0">
                <a:solidFill>
                  <a:srgbClr val="000000"/>
                </a:solidFill>
                <a:latin typeface="Arial (Body)"/>
              </a:rPr>
              <a:t> adopt evidence-based decision-making, </a:t>
            </a:r>
            <a:r>
              <a:rPr lang="en-US" sz="2400" dirty="0">
                <a:solidFill>
                  <a:srgbClr val="00B050"/>
                </a:solidFill>
                <a:latin typeface="Arial (Body)"/>
              </a:rPr>
              <a:t>ensuring</a:t>
            </a:r>
            <a:r>
              <a:rPr lang="en-US" sz="2400" dirty="0">
                <a:solidFill>
                  <a:srgbClr val="000000"/>
                </a:solidFill>
                <a:latin typeface="Arial (Body)"/>
              </a:rPr>
              <a:t> their area of control </a:t>
            </a:r>
            <a:r>
              <a:rPr lang="en-US" sz="2400" dirty="0">
                <a:solidFill>
                  <a:srgbClr val="00B050"/>
                </a:solidFill>
                <a:latin typeface="Arial (Body)"/>
              </a:rPr>
              <a:t>progresses </a:t>
            </a:r>
            <a:r>
              <a:rPr lang="en-US" sz="2400" dirty="0">
                <a:solidFill>
                  <a:srgbClr val="000000"/>
                </a:solidFill>
                <a:latin typeface="Arial (Body)"/>
              </a:rPr>
              <a:t>towards achieving business goals.</a:t>
            </a:r>
            <a:endParaRPr lang="en-GB" sz="2400" dirty="0">
              <a:latin typeface="Arial (Body)"/>
            </a:endParaRPr>
          </a:p>
        </p:txBody>
      </p:sp>
    </p:spTree>
    <p:extLst>
      <p:ext uri="{BB962C8B-B14F-4D97-AF65-F5344CB8AC3E}">
        <p14:creationId xmlns:p14="http://schemas.microsoft.com/office/powerpoint/2010/main" val="341965359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BCCD565C-7598-AF54-92E3-FABD4E2D155D}"/>
              </a:ext>
            </a:extLst>
          </p:cNvPr>
          <p:cNvSpPr>
            <a:spLocks noGrp="1"/>
          </p:cNvSpPr>
          <p:nvPr>
            <p:ph type="body" sz="quarter" idx="10"/>
          </p:nvPr>
        </p:nvSpPr>
        <p:spPr>
          <a:xfrm>
            <a:off x="145280" y="173057"/>
            <a:ext cx="10049854" cy="898623"/>
          </a:xfrm>
        </p:spPr>
        <p:txBody>
          <a:bodyPr/>
          <a:lstStyle/>
          <a:p>
            <a:r>
              <a:rPr lang="en-US"/>
              <a:t>What makes up Data Culture</a:t>
            </a:r>
            <a:endParaRPr lang="en-GB"/>
          </a:p>
        </p:txBody>
      </p:sp>
      <p:sp>
        <p:nvSpPr>
          <p:cNvPr id="23" name="TextBox 22">
            <a:extLst>
              <a:ext uri="{FF2B5EF4-FFF2-40B4-BE49-F238E27FC236}">
                <a16:creationId xmlns:a16="http://schemas.microsoft.com/office/drawing/2014/main" id="{D8B287FA-0BC4-73BC-8E71-47571A94C875}"/>
              </a:ext>
            </a:extLst>
          </p:cNvPr>
          <p:cNvSpPr txBox="1"/>
          <p:nvPr/>
        </p:nvSpPr>
        <p:spPr>
          <a:xfrm>
            <a:off x="1443619" y="3429000"/>
            <a:ext cx="2083818" cy="369332"/>
          </a:xfrm>
          <a:prstGeom prst="rect">
            <a:avLst/>
          </a:prstGeom>
          <a:solidFill>
            <a:srgbClr val="0070C0"/>
          </a:solidFill>
          <a:ln>
            <a:noFill/>
          </a:ln>
        </p:spPr>
        <p:txBody>
          <a:bodyPr wrap="square" rtlCol="0">
            <a:spAutoFit/>
          </a:bodyPr>
          <a:lstStyle/>
          <a:p>
            <a:pPr algn="ctr"/>
            <a:r>
              <a:rPr lang="en-GB" b="1" dirty="0">
                <a:solidFill>
                  <a:schemeClr val="bg1"/>
                </a:solidFill>
              </a:rPr>
              <a:t>Data Culture</a:t>
            </a:r>
          </a:p>
        </p:txBody>
      </p:sp>
      <p:sp>
        <p:nvSpPr>
          <p:cNvPr id="27" name="TextBox 26">
            <a:extLst>
              <a:ext uri="{FF2B5EF4-FFF2-40B4-BE49-F238E27FC236}">
                <a16:creationId xmlns:a16="http://schemas.microsoft.com/office/drawing/2014/main" id="{329E0394-6A5D-E6FC-0536-2028730BC04A}"/>
              </a:ext>
            </a:extLst>
          </p:cNvPr>
          <p:cNvSpPr txBox="1"/>
          <p:nvPr/>
        </p:nvSpPr>
        <p:spPr>
          <a:xfrm>
            <a:off x="3527437" y="2446421"/>
            <a:ext cx="2002359" cy="584775"/>
          </a:xfrm>
          <a:prstGeom prst="rect">
            <a:avLst/>
          </a:prstGeom>
          <a:solidFill>
            <a:srgbClr val="D3E9F0"/>
          </a:solidFill>
        </p:spPr>
        <p:txBody>
          <a:bodyPr wrap="square" rtlCol="0">
            <a:spAutoFit/>
          </a:bodyPr>
          <a:lstStyle/>
          <a:p>
            <a:pPr algn="ctr"/>
            <a:r>
              <a:rPr lang="en-US" sz="1600" b="1" dirty="0"/>
              <a:t>Improving Communication</a:t>
            </a:r>
            <a:endParaRPr lang="en-GB" sz="1600" b="1" dirty="0"/>
          </a:p>
        </p:txBody>
      </p:sp>
      <p:sp>
        <p:nvSpPr>
          <p:cNvPr id="32" name="TextBox 31">
            <a:extLst>
              <a:ext uri="{FF2B5EF4-FFF2-40B4-BE49-F238E27FC236}">
                <a16:creationId xmlns:a16="http://schemas.microsoft.com/office/drawing/2014/main" id="{C4BEB1C1-10F4-72FE-CACF-D407B884CA6D}"/>
              </a:ext>
            </a:extLst>
          </p:cNvPr>
          <p:cNvSpPr txBox="1"/>
          <p:nvPr/>
        </p:nvSpPr>
        <p:spPr>
          <a:xfrm>
            <a:off x="2297233" y="5354085"/>
            <a:ext cx="2002359" cy="338554"/>
          </a:xfrm>
          <a:prstGeom prst="rect">
            <a:avLst/>
          </a:prstGeom>
          <a:solidFill>
            <a:srgbClr val="EDF0F2"/>
          </a:solidFill>
        </p:spPr>
        <p:txBody>
          <a:bodyPr wrap="square" rtlCol="0">
            <a:spAutoFit/>
          </a:bodyPr>
          <a:lstStyle/>
          <a:p>
            <a:pPr algn="ctr"/>
            <a:r>
              <a:rPr lang="en-US" sz="1600" b="1" dirty="0"/>
              <a:t>Ownership</a:t>
            </a:r>
            <a:endParaRPr lang="en-GB" sz="1600" b="1" dirty="0"/>
          </a:p>
        </p:txBody>
      </p:sp>
      <p:sp>
        <p:nvSpPr>
          <p:cNvPr id="39" name="TextBox 38">
            <a:extLst>
              <a:ext uri="{FF2B5EF4-FFF2-40B4-BE49-F238E27FC236}">
                <a16:creationId xmlns:a16="http://schemas.microsoft.com/office/drawing/2014/main" id="{CB808F0D-7F76-9D78-CAE0-36DF67F9B72D}"/>
              </a:ext>
            </a:extLst>
          </p:cNvPr>
          <p:cNvSpPr txBox="1"/>
          <p:nvPr/>
        </p:nvSpPr>
        <p:spPr>
          <a:xfrm>
            <a:off x="3468343" y="4104600"/>
            <a:ext cx="2061453" cy="584775"/>
          </a:xfrm>
          <a:prstGeom prst="rect">
            <a:avLst/>
          </a:prstGeom>
          <a:solidFill>
            <a:srgbClr val="F9C3BE"/>
          </a:solidFill>
        </p:spPr>
        <p:txBody>
          <a:bodyPr wrap="square" rtlCol="0">
            <a:spAutoFit/>
          </a:bodyPr>
          <a:lstStyle/>
          <a:p>
            <a:pPr algn="ctr"/>
            <a:r>
              <a:rPr lang="en-US" sz="1600" b="1" dirty="0"/>
              <a:t>Training and Development</a:t>
            </a:r>
            <a:endParaRPr lang="en-GB" sz="1600" b="1" dirty="0"/>
          </a:p>
        </p:txBody>
      </p:sp>
      <p:sp>
        <p:nvSpPr>
          <p:cNvPr id="25" name="TextBox 24">
            <a:extLst>
              <a:ext uri="{FF2B5EF4-FFF2-40B4-BE49-F238E27FC236}">
                <a16:creationId xmlns:a16="http://schemas.microsoft.com/office/drawing/2014/main" id="{C46A1D02-0407-12B3-63B2-E9ABC587CB3E}"/>
              </a:ext>
            </a:extLst>
          </p:cNvPr>
          <p:cNvSpPr txBox="1"/>
          <p:nvPr/>
        </p:nvSpPr>
        <p:spPr>
          <a:xfrm>
            <a:off x="2297233" y="1505135"/>
            <a:ext cx="2002359" cy="338554"/>
          </a:xfrm>
          <a:prstGeom prst="rect">
            <a:avLst/>
          </a:prstGeom>
          <a:solidFill>
            <a:srgbClr val="FAE1BF"/>
          </a:solidFill>
        </p:spPr>
        <p:txBody>
          <a:bodyPr wrap="square" rtlCol="0">
            <a:spAutoFit/>
          </a:bodyPr>
          <a:lstStyle/>
          <a:p>
            <a:pPr algn="ctr"/>
            <a:r>
              <a:rPr lang="en-US" sz="1600" b="1" dirty="0"/>
              <a:t>Data Governance</a:t>
            </a:r>
            <a:endParaRPr lang="en-GB" sz="1600" b="1" dirty="0"/>
          </a:p>
        </p:txBody>
      </p:sp>
      <p:sp>
        <p:nvSpPr>
          <p:cNvPr id="51" name="TextBox 50">
            <a:extLst>
              <a:ext uri="{FF2B5EF4-FFF2-40B4-BE49-F238E27FC236}">
                <a16:creationId xmlns:a16="http://schemas.microsoft.com/office/drawing/2014/main" id="{95124ABF-BEE1-39C0-DC20-FDF21A535FA8}"/>
              </a:ext>
            </a:extLst>
          </p:cNvPr>
          <p:cNvSpPr txBox="1"/>
          <p:nvPr/>
        </p:nvSpPr>
        <p:spPr>
          <a:xfrm>
            <a:off x="7930073" y="2515932"/>
            <a:ext cx="4051379" cy="523220"/>
          </a:xfrm>
          <a:prstGeom prst="rect">
            <a:avLst/>
          </a:prstGeom>
          <a:solidFill>
            <a:srgbClr val="D3E9F0"/>
          </a:solidFill>
        </p:spPr>
        <p:txBody>
          <a:bodyPr wrap="square" rtlCol="0">
            <a:spAutoFit/>
          </a:bodyPr>
          <a:lstStyle/>
          <a:p>
            <a:pPr algn="ctr"/>
            <a:r>
              <a:rPr lang="en-GB" sz="1350" b="1"/>
              <a:t>How can we </a:t>
            </a:r>
            <a:r>
              <a:rPr lang="en-GB" sz="1350" b="1">
                <a:solidFill>
                  <a:srgbClr val="00B050"/>
                </a:solidFill>
              </a:rPr>
              <a:t>improve</a:t>
            </a:r>
            <a:r>
              <a:rPr lang="en-GB" sz="1350" b="1"/>
              <a:t> the </a:t>
            </a:r>
            <a:r>
              <a:rPr lang="en-GB" sz="1350" b="1">
                <a:solidFill>
                  <a:srgbClr val="00B050"/>
                </a:solidFill>
              </a:rPr>
              <a:t>communication</a:t>
            </a:r>
            <a:r>
              <a:rPr lang="en-GB" sz="1350" b="1"/>
              <a:t> of data insights across the organisation?</a:t>
            </a:r>
          </a:p>
        </p:txBody>
      </p:sp>
      <p:cxnSp>
        <p:nvCxnSpPr>
          <p:cNvPr id="54" name="Straight Arrow Connector 53">
            <a:extLst>
              <a:ext uri="{FF2B5EF4-FFF2-40B4-BE49-F238E27FC236}">
                <a16:creationId xmlns:a16="http://schemas.microsoft.com/office/drawing/2014/main" id="{726715DC-C263-0808-BDBE-1F83166BB2A3}"/>
              </a:ext>
            </a:extLst>
          </p:cNvPr>
          <p:cNvCxnSpPr>
            <a:cxnSpLocks/>
            <a:stCxn id="23" idx="2"/>
            <a:endCxn id="32" idx="0"/>
          </p:cNvCxnSpPr>
          <p:nvPr/>
        </p:nvCxnSpPr>
        <p:spPr>
          <a:xfrm>
            <a:off x="2485528" y="3798332"/>
            <a:ext cx="812885" cy="1555753"/>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9BCA4C70-62E1-6AEF-0DD9-E22DD9C4DC15}"/>
              </a:ext>
            </a:extLst>
          </p:cNvPr>
          <p:cNvSpPr txBox="1"/>
          <p:nvPr/>
        </p:nvSpPr>
        <p:spPr>
          <a:xfrm>
            <a:off x="7892410" y="5154030"/>
            <a:ext cx="4051379" cy="738664"/>
          </a:xfrm>
          <a:prstGeom prst="rect">
            <a:avLst/>
          </a:prstGeom>
          <a:solidFill>
            <a:srgbClr val="EDF0F2"/>
          </a:solidFill>
        </p:spPr>
        <p:txBody>
          <a:bodyPr wrap="square" rtlCol="0">
            <a:spAutoFit/>
          </a:bodyPr>
          <a:lstStyle/>
          <a:p>
            <a:pPr algn="ctr"/>
            <a:r>
              <a:rPr lang="en-US" sz="1350" b="1" dirty="0"/>
              <a:t>Who is </a:t>
            </a:r>
            <a:r>
              <a:rPr lang="en-US" sz="1350" b="1" dirty="0">
                <a:solidFill>
                  <a:srgbClr val="00B050"/>
                </a:solidFill>
              </a:rPr>
              <a:t>responsible</a:t>
            </a:r>
            <a:r>
              <a:rPr lang="en-US" sz="1350" b="1" dirty="0"/>
              <a:t> for which metrics and KPIs, so we can </a:t>
            </a:r>
            <a:r>
              <a:rPr lang="en-US" sz="1350" b="1" dirty="0">
                <a:solidFill>
                  <a:srgbClr val="00B050"/>
                </a:solidFill>
              </a:rPr>
              <a:t>identify</a:t>
            </a:r>
            <a:r>
              <a:rPr lang="en-US" sz="1350" b="1" dirty="0"/>
              <a:t> and respond </a:t>
            </a:r>
            <a:r>
              <a:rPr lang="en-US" sz="1350" b="1" dirty="0">
                <a:solidFill>
                  <a:srgbClr val="00B050"/>
                </a:solidFill>
              </a:rPr>
              <a:t>quickly </a:t>
            </a:r>
            <a:r>
              <a:rPr lang="en-US" sz="1350" b="1" dirty="0"/>
              <a:t>to problems?</a:t>
            </a:r>
            <a:endParaRPr lang="en-GB" sz="1350" b="1" dirty="0"/>
          </a:p>
        </p:txBody>
      </p:sp>
      <p:sp>
        <p:nvSpPr>
          <p:cNvPr id="56" name="TextBox 55">
            <a:extLst>
              <a:ext uri="{FF2B5EF4-FFF2-40B4-BE49-F238E27FC236}">
                <a16:creationId xmlns:a16="http://schemas.microsoft.com/office/drawing/2014/main" id="{6833B739-1831-AD93-9FE4-A519B409E169}"/>
              </a:ext>
            </a:extLst>
          </p:cNvPr>
          <p:cNvSpPr txBox="1"/>
          <p:nvPr/>
        </p:nvSpPr>
        <p:spPr>
          <a:xfrm>
            <a:off x="7930073" y="4168505"/>
            <a:ext cx="4051379" cy="523220"/>
          </a:xfrm>
          <a:prstGeom prst="rect">
            <a:avLst/>
          </a:prstGeom>
          <a:solidFill>
            <a:srgbClr val="F9C3BE"/>
          </a:solidFill>
        </p:spPr>
        <p:txBody>
          <a:bodyPr wrap="square" rtlCol="0">
            <a:spAutoFit/>
          </a:bodyPr>
          <a:lstStyle/>
          <a:p>
            <a:pPr algn="ctr"/>
            <a:r>
              <a:rPr lang="en-US" sz="1350" b="1" dirty="0"/>
              <a:t>Do we have a </a:t>
            </a:r>
            <a:r>
              <a:rPr lang="en-US" sz="1350" b="1" dirty="0">
                <a:solidFill>
                  <a:srgbClr val="00B050"/>
                </a:solidFill>
              </a:rPr>
              <a:t>skills</a:t>
            </a:r>
            <a:r>
              <a:rPr lang="en-US" sz="1350" b="1" dirty="0"/>
              <a:t> </a:t>
            </a:r>
            <a:r>
              <a:rPr lang="en-US" sz="1350" b="1" dirty="0">
                <a:solidFill>
                  <a:srgbClr val="00B050"/>
                </a:solidFill>
              </a:rPr>
              <a:t>gap</a:t>
            </a:r>
            <a:r>
              <a:rPr lang="en-US" sz="1350" b="1" dirty="0"/>
              <a:t> and need to train our teams to help us </a:t>
            </a:r>
            <a:r>
              <a:rPr lang="en-US" sz="1350" b="1" dirty="0">
                <a:solidFill>
                  <a:srgbClr val="00B050"/>
                </a:solidFill>
              </a:rPr>
              <a:t>fulfill</a:t>
            </a:r>
            <a:r>
              <a:rPr lang="en-US" sz="1350" b="1" dirty="0"/>
              <a:t> our </a:t>
            </a:r>
            <a:r>
              <a:rPr lang="en-US" sz="1350" b="1" dirty="0">
                <a:solidFill>
                  <a:srgbClr val="00B050"/>
                </a:solidFill>
              </a:rPr>
              <a:t>objectives?</a:t>
            </a:r>
            <a:endParaRPr lang="en-GB" sz="1350" b="1" dirty="0"/>
          </a:p>
        </p:txBody>
      </p:sp>
      <p:sp>
        <p:nvSpPr>
          <p:cNvPr id="57" name="TextBox 56">
            <a:extLst>
              <a:ext uri="{FF2B5EF4-FFF2-40B4-BE49-F238E27FC236}">
                <a16:creationId xmlns:a16="http://schemas.microsoft.com/office/drawing/2014/main" id="{3C77A5B0-6577-9B0C-3F18-27FB7D1AF9BB}"/>
              </a:ext>
            </a:extLst>
          </p:cNvPr>
          <p:cNvSpPr txBox="1"/>
          <p:nvPr/>
        </p:nvSpPr>
        <p:spPr>
          <a:xfrm>
            <a:off x="7930073" y="1443579"/>
            <a:ext cx="4051379" cy="523220"/>
          </a:xfrm>
          <a:prstGeom prst="rect">
            <a:avLst/>
          </a:prstGeom>
          <a:solidFill>
            <a:srgbClr val="FAE1BF"/>
          </a:solidFill>
        </p:spPr>
        <p:txBody>
          <a:bodyPr wrap="square" rtlCol="0">
            <a:spAutoFit/>
          </a:bodyPr>
          <a:lstStyle/>
          <a:p>
            <a:pPr algn="ctr"/>
            <a:r>
              <a:rPr lang="en-US" sz="1350" b="1" dirty="0"/>
              <a:t>What Data Governance policies do we need in place to protect our </a:t>
            </a:r>
            <a:r>
              <a:rPr lang="en-US" sz="1350" b="1" dirty="0">
                <a:solidFill>
                  <a:srgbClr val="00B050"/>
                </a:solidFill>
              </a:rPr>
              <a:t>Brand</a:t>
            </a:r>
            <a:r>
              <a:rPr lang="en-US" sz="1350" b="1" dirty="0"/>
              <a:t>, </a:t>
            </a:r>
            <a:r>
              <a:rPr lang="en-US" sz="1350" b="1" dirty="0">
                <a:solidFill>
                  <a:srgbClr val="00B050"/>
                </a:solidFill>
              </a:rPr>
              <a:t>Data</a:t>
            </a:r>
            <a:r>
              <a:rPr lang="en-US" sz="1350" b="1" dirty="0"/>
              <a:t> and </a:t>
            </a:r>
            <a:r>
              <a:rPr lang="en-US" sz="1350" b="1" dirty="0">
                <a:solidFill>
                  <a:srgbClr val="00B050"/>
                </a:solidFill>
              </a:rPr>
              <a:t>Staff?</a:t>
            </a:r>
            <a:endParaRPr lang="en-GB" sz="1350" b="1" dirty="0"/>
          </a:p>
        </p:txBody>
      </p:sp>
      <p:cxnSp>
        <p:nvCxnSpPr>
          <p:cNvPr id="103" name="Straight Arrow Connector 102">
            <a:extLst>
              <a:ext uri="{FF2B5EF4-FFF2-40B4-BE49-F238E27FC236}">
                <a16:creationId xmlns:a16="http://schemas.microsoft.com/office/drawing/2014/main" id="{5ED7D0F0-3A20-5E7F-29C6-B73088D12A3D}"/>
              </a:ext>
            </a:extLst>
          </p:cNvPr>
          <p:cNvCxnSpPr>
            <a:cxnSpLocks/>
            <a:stCxn id="23" idx="2"/>
            <a:endCxn id="39" idx="1"/>
          </p:cNvCxnSpPr>
          <p:nvPr/>
        </p:nvCxnSpPr>
        <p:spPr>
          <a:xfrm>
            <a:off x="2485528" y="3798332"/>
            <a:ext cx="982815" cy="598656"/>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98B03E3E-8ABA-F9AA-7DBF-C16F4A75FBE4}"/>
              </a:ext>
            </a:extLst>
          </p:cNvPr>
          <p:cNvCxnSpPr>
            <a:cxnSpLocks/>
            <a:stCxn id="23" idx="0"/>
            <a:endCxn id="25" idx="2"/>
          </p:cNvCxnSpPr>
          <p:nvPr/>
        </p:nvCxnSpPr>
        <p:spPr>
          <a:xfrm flipV="1">
            <a:off x="2485528" y="1843689"/>
            <a:ext cx="812885" cy="1585311"/>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C9174F0E-B0BA-FB45-3EE9-D9B6E1E20463}"/>
              </a:ext>
            </a:extLst>
          </p:cNvPr>
          <p:cNvCxnSpPr>
            <a:cxnSpLocks/>
            <a:stCxn id="23" idx="0"/>
            <a:endCxn id="27" idx="1"/>
          </p:cNvCxnSpPr>
          <p:nvPr/>
        </p:nvCxnSpPr>
        <p:spPr>
          <a:xfrm flipV="1">
            <a:off x="2485528" y="2738809"/>
            <a:ext cx="1041909" cy="690191"/>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5956D1FA-F460-B2DE-9531-5DC747ECEA54}"/>
              </a:ext>
            </a:extLst>
          </p:cNvPr>
          <p:cNvCxnSpPr>
            <a:cxnSpLocks/>
            <a:stCxn id="27" idx="3"/>
            <a:endCxn id="51" idx="1"/>
          </p:cNvCxnSpPr>
          <p:nvPr/>
        </p:nvCxnSpPr>
        <p:spPr>
          <a:xfrm>
            <a:off x="5529796" y="2738809"/>
            <a:ext cx="2400277" cy="38733"/>
          </a:xfrm>
          <a:prstGeom prst="straightConnector1">
            <a:avLst/>
          </a:prstGeom>
          <a:ln w="28575">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E449DB53-D6B8-7DCE-8DD9-CC76B2F56CBD}"/>
              </a:ext>
            </a:extLst>
          </p:cNvPr>
          <p:cNvCxnSpPr>
            <a:cxnSpLocks/>
            <a:stCxn id="32" idx="3"/>
            <a:endCxn id="55" idx="1"/>
          </p:cNvCxnSpPr>
          <p:nvPr/>
        </p:nvCxnSpPr>
        <p:spPr>
          <a:xfrm>
            <a:off x="4299592" y="5523362"/>
            <a:ext cx="3592818" cy="0"/>
          </a:xfrm>
          <a:prstGeom prst="straightConnector1">
            <a:avLst/>
          </a:prstGeom>
          <a:ln w="28575">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A2846E6D-C1C1-B46B-D445-56D51F8E5C7F}"/>
              </a:ext>
            </a:extLst>
          </p:cNvPr>
          <p:cNvCxnSpPr>
            <a:cxnSpLocks/>
            <a:stCxn id="25" idx="3"/>
            <a:endCxn id="57" idx="1"/>
          </p:cNvCxnSpPr>
          <p:nvPr/>
        </p:nvCxnSpPr>
        <p:spPr>
          <a:xfrm>
            <a:off x="4299592" y="1674412"/>
            <a:ext cx="3630481" cy="30777"/>
          </a:xfrm>
          <a:prstGeom prst="straightConnector1">
            <a:avLst/>
          </a:prstGeom>
          <a:ln w="28575">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E3B8FDF0-065F-FA75-EF19-B8FB900E1287}"/>
              </a:ext>
            </a:extLst>
          </p:cNvPr>
          <p:cNvCxnSpPr>
            <a:cxnSpLocks/>
            <a:stCxn id="39" idx="3"/>
            <a:endCxn id="56" idx="1"/>
          </p:cNvCxnSpPr>
          <p:nvPr/>
        </p:nvCxnSpPr>
        <p:spPr>
          <a:xfrm>
            <a:off x="5529796" y="4396988"/>
            <a:ext cx="2400277" cy="33127"/>
          </a:xfrm>
          <a:prstGeom prst="straightConnector1">
            <a:avLst/>
          </a:prstGeom>
          <a:ln w="28575">
            <a:solidFill>
              <a:srgbClr val="0070C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B4A4B2F1-7238-3DAC-C9C4-EBE227533AC2}"/>
              </a:ext>
            </a:extLst>
          </p:cNvPr>
          <p:cNvSpPr txBox="1"/>
          <p:nvPr/>
        </p:nvSpPr>
        <p:spPr>
          <a:xfrm>
            <a:off x="6096000" y="4243098"/>
            <a:ext cx="1403442" cy="307777"/>
          </a:xfrm>
          <a:prstGeom prst="rect">
            <a:avLst/>
          </a:prstGeom>
          <a:solidFill>
            <a:srgbClr val="EDF0F2"/>
          </a:solidFill>
          <a:ln>
            <a:solidFill>
              <a:schemeClr val="tx1"/>
            </a:solidFill>
            <a:prstDash val="sysDash"/>
          </a:ln>
        </p:spPr>
        <p:txBody>
          <a:bodyPr wrap="square" rtlCol="0">
            <a:spAutoFit/>
          </a:bodyPr>
          <a:lstStyle/>
          <a:p>
            <a:pPr algn="ctr"/>
            <a:r>
              <a:rPr lang="en-GB" sz="1400" b="1"/>
              <a:t>Resulting In</a:t>
            </a:r>
          </a:p>
        </p:txBody>
      </p:sp>
      <p:sp>
        <p:nvSpPr>
          <p:cNvPr id="146" name="TextBox 145">
            <a:extLst>
              <a:ext uri="{FF2B5EF4-FFF2-40B4-BE49-F238E27FC236}">
                <a16:creationId xmlns:a16="http://schemas.microsoft.com/office/drawing/2014/main" id="{EA554130-C926-F42B-6286-D44B3189BD43}"/>
              </a:ext>
            </a:extLst>
          </p:cNvPr>
          <p:cNvSpPr txBox="1"/>
          <p:nvPr/>
        </p:nvSpPr>
        <p:spPr>
          <a:xfrm>
            <a:off x="6096000" y="1512378"/>
            <a:ext cx="1403442" cy="307777"/>
          </a:xfrm>
          <a:prstGeom prst="rect">
            <a:avLst/>
          </a:prstGeom>
          <a:solidFill>
            <a:srgbClr val="EDF0F2"/>
          </a:solidFill>
          <a:ln>
            <a:solidFill>
              <a:schemeClr val="tx1"/>
            </a:solidFill>
            <a:prstDash val="sysDash"/>
          </a:ln>
        </p:spPr>
        <p:txBody>
          <a:bodyPr wrap="square" rtlCol="0">
            <a:spAutoFit/>
          </a:bodyPr>
          <a:lstStyle>
            <a:defPPr>
              <a:defRPr lang="en-US"/>
            </a:defPPr>
            <a:lvl1pPr algn="ctr">
              <a:defRPr sz="1400" b="1"/>
            </a:lvl1pPr>
          </a:lstStyle>
          <a:p>
            <a:r>
              <a:rPr lang="en-GB"/>
              <a:t>Resulting In</a:t>
            </a:r>
          </a:p>
        </p:txBody>
      </p:sp>
      <p:sp>
        <p:nvSpPr>
          <p:cNvPr id="147" name="TextBox 146">
            <a:extLst>
              <a:ext uri="{FF2B5EF4-FFF2-40B4-BE49-F238E27FC236}">
                <a16:creationId xmlns:a16="http://schemas.microsoft.com/office/drawing/2014/main" id="{51B8F53F-D3F8-76E9-2A76-824123421CCE}"/>
              </a:ext>
            </a:extLst>
          </p:cNvPr>
          <p:cNvSpPr txBox="1"/>
          <p:nvPr/>
        </p:nvSpPr>
        <p:spPr>
          <a:xfrm>
            <a:off x="6114832" y="2572069"/>
            <a:ext cx="1403442" cy="307777"/>
          </a:xfrm>
          <a:prstGeom prst="rect">
            <a:avLst/>
          </a:prstGeom>
          <a:solidFill>
            <a:srgbClr val="EDF0F2"/>
          </a:solidFill>
          <a:ln>
            <a:solidFill>
              <a:schemeClr val="tx1"/>
            </a:solidFill>
            <a:prstDash val="sysDash"/>
          </a:ln>
        </p:spPr>
        <p:txBody>
          <a:bodyPr wrap="square" rtlCol="0">
            <a:spAutoFit/>
          </a:bodyPr>
          <a:lstStyle>
            <a:defPPr>
              <a:defRPr lang="en-US"/>
            </a:defPPr>
            <a:lvl1pPr algn="ctr">
              <a:defRPr sz="1400" b="1"/>
            </a:lvl1pPr>
          </a:lstStyle>
          <a:p>
            <a:r>
              <a:rPr lang="en-GB"/>
              <a:t>Resulting In</a:t>
            </a:r>
          </a:p>
        </p:txBody>
      </p:sp>
      <p:sp>
        <p:nvSpPr>
          <p:cNvPr id="148" name="TextBox 147">
            <a:extLst>
              <a:ext uri="{FF2B5EF4-FFF2-40B4-BE49-F238E27FC236}">
                <a16:creationId xmlns:a16="http://schemas.microsoft.com/office/drawing/2014/main" id="{BB0C9219-1DE1-7EBB-F3CE-4E25AC5BDEC5}"/>
              </a:ext>
            </a:extLst>
          </p:cNvPr>
          <p:cNvSpPr txBox="1"/>
          <p:nvPr/>
        </p:nvSpPr>
        <p:spPr>
          <a:xfrm>
            <a:off x="6096000" y="5354085"/>
            <a:ext cx="1403442" cy="307777"/>
          </a:xfrm>
          <a:prstGeom prst="rect">
            <a:avLst/>
          </a:prstGeom>
          <a:solidFill>
            <a:srgbClr val="EDF0F2"/>
          </a:solidFill>
          <a:ln>
            <a:solidFill>
              <a:schemeClr val="tx1"/>
            </a:solidFill>
            <a:prstDash val="sysDash"/>
          </a:ln>
        </p:spPr>
        <p:txBody>
          <a:bodyPr wrap="square" rtlCol="0">
            <a:spAutoFit/>
          </a:bodyPr>
          <a:lstStyle>
            <a:defPPr>
              <a:defRPr lang="en-US"/>
            </a:defPPr>
            <a:lvl1pPr algn="ctr">
              <a:defRPr sz="1400" b="1"/>
            </a:lvl1pPr>
          </a:lstStyle>
          <a:p>
            <a:r>
              <a:rPr lang="en-GB"/>
              <a:t>Resulting In</a:t>
            </a:r>
          </a:p>
        </p:txBody>
      </p:sp>
      <p:sp>
        <p:nvSpPr>
          <p:cNvPr id="2" name="Slide Number Placeholder 1">
            <a:extLst>
              <a:ext uri="{FF2B5EF4-FFF2-40B4-BE49-F238E27FC236}">
                <a16:creationId xmlns:a16="http://schemas.microsoft.com/office/drawing/2014/main" id="{97C5DA31-6371-89A1-7B62-55A479F0AA26}"/>
              </a:ext>
            </a:extLst>
          </p:cNvPr>
          <p:cNvSpPr>
            <a:spLocks noGrp="1"/>
          </p:cNvSpPr>
          <p:nvPr>
            <p:ph type="sldNum" sz="quarter" idx="12"/>
          </p:nvPr>
        </p:nvSpPr>
        <p:spPr>
          <a:xfrm>
            <a:off x="-1521112" y="6319818"/>
            <a:ext cx="2743200" cy="365125"/>
          </a:xfrm>
        </p:spPr>
        <p:txBody>
          <a:bodyPr/>
          <a:lstStyle/>
          <a:p>
            <a:fld id="{3407867C-75BD-4144-8CEA-4B3EDFFD368C}" type="slidenum">
              <a:rPr lang="en-US" smtClean="0"/>
              <a:pPr/>
              <a:t>9</a:t>
            </a:fld>
            <a:endParaRPr lang="en-US"/>
          </a:p>
        </p:txBody>
      </p:sp>
      <p:sp>
        <p:nvSpPr>
          <p:cNvPr id="15" name="TextBox 14">
            <a:extLst>
              <a:ext uri="{FF2B5EF4-FFF2-40B4-BE49-F238E27FC236}">
                <a16:creationId xmlns:a16="http://schemas.microsoft.com/office/drawing/2014/main" id="{230AB39E-204A-B6B3-3CA2-C58E28EBF91B}"/>
              </a:ext>
            </a:extLst>
          </p:cNvPr>
          <p:cNvSpPr txBox="1"/>
          <p:nvPr/>
        </p:nvSpPr>
        <p:spPr>
          <a:xfrm>
            <a:off x="145280" y="3429000"/>
            <a:ext cx="855278" cy="369332"/>
          </a:xfrm>
          <a:prstGeom prst="rect">
            <a:avLst/>
          </a:prstGeom>
          <a:solidFill>
            <a:srgbClr val="95D3CF"/>
          </a:solidFill>
        </p:spPr>
        <p:txBody>
          <a:bodyPr wrap="square" rtlCol="0">
            <a:spAutoFit/>
          </a:bodyPr>
          <a:lstStyle/>
          <a:p>
            <a:pPr algn="ctr"/>
            <a:r>
              <a:rPr lang="en-GB" b="1" i="1" dirty="0">
                <a:solidFill>
                  <a:schemeClr val="bg1"/>
                </a:solidFill>
              </a:rPr>
              <a:t>CEO</a:t>
            </a:r>
          </a:p>
        </p:txBody>
      </p:sp>
      <p:cxnSp>
        <p:nvCxnSpPr>
          <p:cNvPr id="16" name="Straight Arrow Connector 15">
            <a:extLst>
              <a:ext uri="{FF2B5EF4-FFF2-40B4-BE49-F238E27FC236}">
                <a16:creationId xmlns:a16="http://schemas.microsoft.com/office/drawing/2014/main" id="{476274B0-372E-79A7-17AD-4C6382F1C448}"/>
              </a:ext>
            </a:extLst>
          </p:cNvPr>
          <p:cNvCxnSpPr>
            <a:cxnSpLocks/>
            <a:stCxn id="15" idx="3"/>
            <a:endCxn id="23" idx="1"/>
          </p:cNvCxnSpPr>
          <p:nvPr/>
        </p:nvCxnSpPr>
        <p:spPr>
          <a:xfrm>
            <a:off x="1000558" y="3613666"/>
            <a:ext cx="443061" cy="0"/>
          </a:xfrm>
          <a:prstGeom prst="straightConnector1">
            <a:avLst/>
          </a:prstGeom>
          <a:ln w="28575">
            <a:solidFill>
              <a:srgbClr val="95D3C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114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7" name="Title 7">
            <a:extLst>
              <a:ext uri="{FF2B5EF4-FFF2-40B4-BE49-F238E27FC236}">
                <a16:creationId xmlns:a16="http://schemas.microsoft.com/office/drawing/2014/main" id="{445228F5-A3E5-37D3-9B73-F2877EF6AF70}"/>
              </a:ext>
            </a:extLst>
          </p:cNvPr>
          <p:cNvSpPr txBox="1">
            <a:spLocks/>
          </p:cNvSpPr>
          <p:nvPr/>
        </p:nvSpPr>
        <p:spPr>
          <a:xfrm>
            <a:off x="1503680" y="599358"/>
            <a:ext cx="8950960" cy="1431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00B050"/>
                </a:solidFill>
                <a:latin typeface="Arial (Body)"/>
              </a:rPr>
              <a:t>Strategy and Culture</a:t>
            </a:r>
          </a:p>
          <a:p>
            <a:pPr algn="ctr"/>
            <a:r>
              <a:rPr lang="en-US" sz="2500" b="1" dirty="0">
                <a:solidFill>
                  <a:srgbClr val="0070C0"/>
                </a:solidFill>
                <a:latin typeface="Arial (Body)"/>
              </a:rPr>
              <a:t>Strategy and Culture go out for a coffee…and they argue over who pays…</a:t>
            </a:r>
          </a:p>
        </p:txBody>
      </p:sp>
      <p:pic>
        <p:nvPicPr>
          <p:cNvPr id="5" name="Picture 4">
            <a:extLst>
              <a:ext uri="{FF2B5EF4-FFF2-40B4-BE49-F238E27FC236}">
                <a16:creationId xmlns:a16="http://schemas.microsoft.com/office/drawing/2014/main" id="{0F017AB2-C3EF-47BA-F9C9-CB41425D5D13}"/>
              </a:ext>
            </a:extLst>
          </p:cNvPr>
          <p:cNvPicPr>
            <a:picLocks noChangeAspect="1"/>
          </p:cNvPicPr>
          <p:nvPr/>
        </p:nvPicPr>
        <p:blipFill>
          <a:blip r:embed="rId3"/>
          <a:stretch>
            <a:fillRect/>
          </a:stretch>
        </p:blipFill>
        <p:spPr>
          <a:xfrm>
            <a:off x="4150556" y="2722484"/>
            <a:ext cx="3890887" cy="2104505"/>
          </a:xfrm>
          <a:prstGeom prst="rect">
            <a:avLst/>
          </a:prstGeom>
        </p:spPr>
      </p:pic>
    </p:spTree>
    <p:extLst>
      <p:ext uri="{BB962C8B-B14F-4D97-AF65-F5344CB8AC3E}">
        <p14:creationId xmlns:p14="http://schemas.microsoft.com/office/powerpoint/2010/main" val="398450619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Top Corners Snipped 35">
            <a:extLst>
              <a:ext uri="{FF2B5EF4-FFF2-40B4-BE49-F238E27FC236}">
                <a16:creationId xmlns:a16="http://schemas.microsoft.com/office/drawing/2014/main" id="{5E45F302-1BAC-B477-CD30-2CE378683D99}"/>
              </a:ext>
            </a:extLst>
          </p:cNvPr>
          <p:cNvSpPr/>
          <p:nvPr/>
        </p:nvSpPr>
        <p:spPr>
          <a:xfrm rot="10800000">
            <a:off x="178903" y="2003223"/>
            <a:ext cx="11841410" cy="3216467"/>
          </a:xfrm>
          <a:prstGeom prst="snip2SameRect">
            <a:avLst/>
          </a:prstGeom>
          <a:solidFill>
            <a:srgbClr val="ED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Arrow Connector 13">
            <a:extLst>
              <a:ext uri="{FF2B5EF4-FFF2-40B4-BE49-F238E27FC236}">
                <a16:creationId xmlns:a16="http://schemas.microsoft.com/office/drawing/2014/main" id="{9A07C516-DE6A-2482-FD96-A4D912D63142}"/>
              </a:ext>
            </a:extLst>
          </p:cNvPr>
          <p:cNvCxnSpPr>
            <a:cxnSpLocks/>
            <a:stCxn id="5" idx="2"/>
            <a:endCxn id="10" idx="0"/>
          </p:cNvCxnSpPr>
          <p:nvPr/>
        </p:nvCxnSpPr>
        <p:spPr>
          <a:xfrm>
            <a:off x="6095998" y="1687502"/>
            <a:ext cx="0" cy="898641"/>
          </a:xfrm>
          <a:prstGeom prst="straightConnector1">
            <a:avLst/>
          </a:prstGeom>
          <a:ln w="762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DEC54920-CF0E-1C6D-3B65-212C680DFD30}"/>
              </a:ext>
            </a:extLst>
          </p:cNvPr>
          <p:cNvSpPr txBox="1"/>
          <p:nvPr/>
        </p:nvSpPr>
        <p:spPr>
          <a:xfrm>
            <a:off x="3977140" y="918061"/>
            <a:ext cx="4237715" cy="769441"/>
          </a:xfrm>
          <a:prstGeom prst="rect">
            <a:avLst/>
          </a:prstGeom>
          <a:solidFill>
            <a:srgbClr val="95D3CF"/>
          </a:solidFill>
        </p:spPr>
        <p:txBody>
          <a:bodyPr wrap="square">
            <a:spAutoFit/>
          </a:bodyPr>
          <a:lstStyle/>
          <a:p>
            <a:pPr algn="ctr"/>
            <a:r>
              <a:rPr lang="en-US" sz="2200" b="1" dirty="0">
                <a:solidFill>
                  <a:schemeClr val="tx1">
                    <a:lumMod val="50000"/>
                    <a:lumOff val="50000"/>
                  </a:schemeClr>
                </a:solidFill>
              </a:rPr>
              <a:t>To lead we need to know where we are headed….</a:t>
            </a:r>
          </a:p>
        </p:txBody>
      </p:sp>
      <p:sp>
        <p:nvSpPr>
          <p:cNvPr id="2" name="Rectangle 1">
            <a:extLst>
              <a:ext uri="{FF2B5EF4-FFF2-40B4-BE49-F238E27FC236}">
                <a16:creationId xmlns:a16="http://schemas.microsoft.com/office/drawing/2014/main" id="{59B3BE36-F8D6-D963-E827-21951623EF17}"/>
              </a:ext>
            </a:extLst>
          </p:cNvPr>
          <p:cNvSpPr/>
          <p:nvPr/>
        </p:nvSpPr>
        <p:spPr>
          <a:xfrm>
            <a:off x="341793" y="3255806"/>
            <a:ext cx="2660431" cy="898623"/>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Increase Revenue by 20%</a:t>
            </a:r>
          </a:p>
        </p:txBody>
      </p:sp>
      <p:sp>
        <p:nvSpPr>
          <p:cNvPr id="3" name="Rectangle 2">
            <a:extLst>
              <a:ext uri="{FF2B5EF4-FFF2-40B4-BE49-F238E27FC236}">
                <a16:creationId xmlns:a16="http://schemas.microsoft.com/office/drawing/2014/main" id="{1B43DF9D-1D81-989E-3E79-4EFCF491F213}"/>
              </a:ext>
            </a:extLst>
          </p:cNvPr>
          <p:cNvSpPr/>
          <p:nvPr/>
        </p:nvSpPr>
        <p:spPr>
          <a:xfrm>
            <a:off x="3213927" y="3255808"/>
            <a:ext cx="2660431" cy="898623"/>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Grow Brand Awareness</a:t>
            </a:r>
          </a:p>
        </p:txBody>
      </p:sp>
      <p:sp>
        <p:nvSpPr>
          <p:cNvPr id="8" name="Rectangle 7">
            <a:extLst>
              <a:ext uri="{FF2B5EF4-FFF2-40B4-BE49-F238E27FC236}">
                <a16:creationId xmlns:a16="http://schemas.microsoft.com/office/drawing/2014/main" id="{33E826F8-8020-9C6C-1CCA-409373442E62}"/>
              </a:ext>
            </a:extLst>
          </p:cNvPr>
          <p:cNvSpPr/>
          <p:nvPr/>
        </p:nvSpPr>
        <p:spPr>
          <a:xfrm>
            <a:off x="6317642" y="3255808"/>
            <a:ext cx="2660431" cy="898623"/>
          </a:xfrm>
          <a:prstGeom prst="rect">
            <a:avLst/>
          </a:prstGeom>
          <a:solidFill>
            <a:srgbClr val="FAE1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Improve Employee Retention</a:t>
            </a:r>
          </a:p>
        </p:txBody>
      </p:sp>
      <p:sp>
        <p:nvSpPr>
          <p:cNvPr id="9" name="Rectangle 8">
            <a:extLst>
              <a:ext uri="{FF2B5EF4-FFF2-40B4-BE49-F238E27FC236}">
                <a16:creationId xmlns:a16="http://schemas.microsoft.com/office/drawing/2014/main" id="{B6D02765-59AA-86DC-CEAA-22964F52B8BD}"/>
              </a:ext>
            </a:extLst>
          </p:cNvPr>
          <p:cNvSpPr/>
          <p:nvPr/>
        </p:nvSpPr>
        <p:spPr>
          <a:xfrm>
            <a:off x="9189776" y="3255807"/>
            <a:ext cx="2660431" cy="898623"/>
          </a:xfrm>
          <a:prstGeom prst="rect">
            <a:avLst/>
          </a:prstGeom>
          <a:solidFill>
            <a:srgbClr val="E3D9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Improve Customer Service</a:t>
            </a:r>
          </a:p>
        </p:txBody>
      </p:sp>
      <p:sp>
        <p:nvSpPr>
          <p:cNvPr id="10" name="TextBox 9">
            <a:extLst>
              <a:ext uri="{FF2B5EF4-FFF2-40B4-BE49-F238E27FC236}">
                <a16:creationId xmlns:a16="http://schemas.microsoft.com/office/drawing/2014/main" id="{FFA13FA2-9037-F1CC-C499-0BC402BCF2E1}"/>
              </a:ext>
            </a:extLst>
          </p:cNvPr>
          <p:cNvSpPr txBox="1"/>
          <p:nvPr/>
        </p:nvSpPr>
        <p:spPr>
          <a:xfrm>
            <a:off x="3770241" y="2586143"/>
            <a:ext cx="4651513" cy="369332"/>
          </a:xfrm>
          <a:prstGeom prst="rect">
            <a:avLst/>
          </a:prstGeom>
          <a:solidFill>
            <a:srgbClr val="EDF0F2"/>
          </a:solidFill>
          <a:ln w="28575">
            <a:solidFill>
              <a:srgbClr val="0070C0"/>
            </a:solidFill>
            <a:prstDash val="sysDash"/>
          </a:ln>
        </p:spPr>
        <p:txBody>
          <a:bodyPr wrap="square" rtlCol="0">
            <a:spAutoFit/>
          </a:bodyPr>
          <a:lstStyle/>
          <a:p>
            <a:pPr algn="ctr"/>
            <a:r>
              <a:rPr lang="en-GB" b="1" i="1" dirty="0">
                <a:solidFill>
                  <a:schemeClr val="tx1">
                    <a:lumMod val="50000"/>
                    <a:lumOff val="50000"/>
                  </a:schemeClr>
                </a:solidFill>
              </a:rPr>
              <a:t>Business</a:t>
            </a:r>
          </a:p>
        </p:txBody>
      </p:sp>
      <p:sp>
        <p:nvSpPr>
          <p:cNvPr id="12" name="TextBox 11">
            <a:extLst>
              <a:ext uri="{FF2B5EF4-FFF2-40B4-BE49-F238E27FC236}">
                <a16:creationId xmlns:a16="http://schemas.microsoft.com/office/drawing/2014/main" id="{F4D28E81-690B-343F-C167-3BD01D914BA4}"/>
              </a:ext>
            </a:extLst>
          </p:cNvPr>
          <p:cNvSpPr txBox="1"/>
          <p:nvPr/>
        </p:nvSpPr>
        <p:spPr>
          <a:xfrm>
            <a:off x="3770241" y="4493746"/>
            <a:ext cx="4651513" cy="369332"/>
          </a:xfrm>
          <a:prstGeom prst="rect">
            <a:avLst/>
          </a:prstGeom>
          <a:solidFill>
            <a:srgbClr val="0070C0"/>
          </a:solidFill>
          <a:ln w="57150">
            <a:solidFill>
              <a:srgbClr val="EDF0F2"/>
            </a:solidFill>
            <a:prstDash val="dash"/>
          </a:ln>
        </p:spPr>
        <p:txBody>
          <a:bodyPr wrap="square" rtlCol="0">
            <a:spAutoFit/>
          </a:bodyPr>
          <a:lstStyle/>
          <a:p>
            <a:pPr algn="ctr"/>
            <a:r>
              <a:rPr lang="en-GB" b="1" i="1" dirty="0">
                <a:solidFill>
                  <a:schemeClr val="bg1"/>
                </a:solidFill>
              </a:rPr>
              <a:t>DIRECTION</a:t>
            </a:r>
          </a:p>
        </p:txBody>
      </p:sp>
      <p:cxnSp>
        <p:nvCxnSpPr>
          <p:cNvPr id="40" name="Straight Arrow Connector 39">
            <a:extLst>
              <a:ext uri="{FF2B5EF4-FFF2-40B4-BE49-F238E27FC236}">
                <a16:creationId xmlns:a16="http://schemas.microsoft.com/office/drawing/2014/main" id="{702E4B68-02CA-2564-85A9-D254A5EB38EC}"/>
              </a:ext>
            </a:extLst>
          </p:cNvPr>
          <p:cNvCxnSpPr>
            <a:cxnSpLocks/>
            <a:endCxn id="12" idx="0"/>
          </p:cNvCxnSpPr>
          <p:nvPr/>
        </p:nvCxnSpPr>
        <p:spPr>
          <a:xfrm flipH="1">
            <a:off x="6095998" y="2955475"/>
            <a:ext cx="3610" cy="1538271"/>
          </a:xfrm>
          <a:prstGeom prst="straightConnector1">
            <a:avLst/>
          </a:prstGeom>
          <a:ln w="762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5EE421EA-519F-CD85-71AE-70571DEDC307}"/>
              </a:ext>
            </a:extLst>
          </p:cNvPr>
          <p:cNvSpPr txBox="1"/>
          <p:nvPr/>
        </p:nvSpPr>
        <p:spPr>
          <a:xfrm>
            <a:off x="1500137" y="5779247"/>
            <a:ext cx="8940342" cy="646331"/>
          </a:xfrm>
          <a:prstGeom prst="rect">
            <a:avLst/>
          </a:prstGeom>
          <a:solidFill>
            <a:srgbClr val="EDF0F2"/>
          </a:solidFill>
        </p:spPr>
        <p:txBody>
          <a:bodyPr wrap="square">
            <a:spAutoFit/>
          </a:bodyPr>
          <a:lstStyle/>
          <a:p>
            <a:pPr algn="ctr"/>
            <a:r>
              <a:rPr lang="en-US" b="1" i="1" dirty="0">
                <a:solidFill>
                  <a:srgbClr val="FFC000"/>
                </a:solidFill>
              </a:rPr>
              <a:t>Business Goals </a:t>
            </a:r>
            <a:r>
              <a:rPr lang="en-US" b="1" dirty="0">
                <a:solidFill>
                  <a:schemeClr val="tx1">
                    <a:lumMod val="50000"/>
                    <a:lumOff val="50000"/>
                  </a:schemeClr>
                </a:solidFill>
              </a:rPr>
              <a:t>gives </a:t>
            </a:r>
            <a:r>
              <a:rPr lang="en-US" b="1" dirty="0">
                <a:solidFill>
                  <a:srgbClr val="0070C0"/>
                </a:solidFill>
              </a:rPr>
              <a:t>direction</a:t>
            </a:r>
            <a:r>
              <a:rPr lang="en-US" b="1" dirty="0">
                <a:solidFill>
                  <a:schemeClr val="tx1">
                    <a:lumMod val="50000"/>
                    <a:lumOff val="50000"/>
                  </a:schemeClr>
                </a:solidFill>
              </a:rPr>
              <a:t> on where the leaders are </a:t>
            </a:r>
            <a:r>
              <a:rPr lang="en-US" b="1" dirty="0">
                <a:solidFill>
                  <a:srgbClr val="0070C0"/>
                </a:solidFill>
              </a:rPr>
              <a:t>headed,</a:t>
            </a:r>
            <a:r>
              <a:rPr lang="en-US" b="1" dirty="0">
                <a:solidFill>
                  <a:schemeClr val="tx1">
                    <a:lumMod val="50000"/>
                    <a:lumOff val="50000"/>
                  </a:schemeClr>
                </a:solidFill>
              </a:rPr>
              <a:t> and a </a:t>
            </a:r>
            <a:r>
              <a:rPr lang="en-US" b="1" i="1" dirty="0">
                <a:solidFill>
                  <a:srgbClr val="FFC000"/>
                </a:solidFill>
              </a:rPr>
              <a:t>Data Strategy</a:t>
            </a:r>
            <a:r>
              <a:rPr lang="en-US" b="1" dirty="0">
                <a:solidFill>
                  <a:srgbClr val="FFC000"/>
                </a:solidFill>
              </a:rPr>
              <a:t> </a:t>
            </a:r>
            <a:r>
              <a:rPr lang="en-US" b="1" dirty="0">
                <a:solidFill>
                  <a:srgbClr val="0070C0"/>
                </a:solidFill>
              </a:rPr>
              <a:t>measures</a:t>
            </a:r>
            <a:r>
              <a:rPr lang="en-US" b="1" dirty="0">
                <a:solidFill>
                  <a:schemeClr val="tx1">
                    <a:lumMod val="50000"/>
                    <a:lumOff val="50000"/>
                  </a:schemeClr>
                </a:solidFill>
              </a:rPr>
              <a:t> how well the business goals are being </a:t>
            </a:r>
            <a:r>
              <a:rPr lang="en-US" b="1" dirty="0">
                <a:solidFill>
                  <a:srgbClr val="0070C0"/>
                </a:solidFill>
              </a:rPr>
              <a:t>achieved</a:t>
            </a:r>
          </a:p>
        </p:txBody>
      </p:sp>
      <p:sp>
        <p:nvSpPr>
          <p:cNvPr id="7" name="Text Placeholder 19">
            <a:extLst>
              <a:ext uri="{FF2B5EF4-FFF2-40B4-BE49-F238E27FC236}">
                <a16:creationId xmlns:a16="http://schemas.microsoft.com/office/drawing/2014/main" id="{CB36932A-70CF-69FA-A50E-5C62ECF3DD36}"/>
              </a:ext>
            </a:extLst>
          </p:cNvPr>
          <p:cNvSpPr txBox="1">
            <a:spLocks/>
          </p:cNvSpPr>
          <p:nvPr/>
        </p:nvSpPr>
        <p:spPr>
          <a:xfrm>
            <a:off x="264920" y="272321"/>
            <a:ext cx="11927080" cy="661129"/>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Strategy and Culture</a:t>
            </a:r>
          </a:p>
        </p:txBody>
      </p:sp>
    </p:spTree>
    <p:extLst>
      <p:ext uri="{BB962C8B-B14F-4D97-AF65-F5344CB8AC3E}">
        <p14:creationId xmlns:p14="http://schemas.microsoft.com/office/powerpoint/2010/main" val="562623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8C3FF72-A2EF-5085-50DA-A1E6B7C3039B}"/>
              </a:ext>
            </a:extLst>
          </p:cNvPr>
          <p:cNvSpPr txBox="1"/>
          <p:nvPr/>
        </p:nvSpPr>
        <p:spPr>
          <a:xfrm>
            <a:off x="1500137" y="5779247"/>
            <a:ext cx="8940342" cy="646331"/>
          </a:xfrm>
          <a:prstGeom prst="rect">
            <a:avLst/>
          </a:prstGeom>
          <a:solidFill>
            <a:srgbClr val="EDF0F2"/>
          </a:solidFill>
        </p:spPr>
        <p:txBody>
          <a:bodyPr wrap="square">
            <a:spAutoFit/>
          </a:bodyPr>
          <a:lstStyle/>
          <a:p>
            <a:pPr algn="ctr"/>
            <a:r>
              <a:rPr lang="en-US" b="1" i="1" dirty="0">
                <a:solidFill>
                  <a:srgbClr val="FFC000"/>
                </a:solidFill>
              </a:rPr>
              <a:t>Business Goals </a:t>
            </a:r>
            <a:r>
              <a:rPr lang="en-US" b="1" dirty="0">
                <a:solidFill>
                  <a:schemeClr val="tx1">
                    <a:lumMod val="50000"/>
                    <a:lumOff val="50000"/>
                  </a:schemeClr>
                </a:solidFill>
              </a:rPr>
              <a:t>gives </a:t>
            </a:r>
            <a:r>
              <a:rPr lang="en-US" b="1" dirty="0">
                <a:solidFill>
                  <a:srgbClr val="0070C0"/>
                </a:solidFill>
              </a:rPr>
              <a:t>direction</a:t>
            </a:r>
            <a:r>
              <a:rPr lang="en-US" b="1" dirty="0">
                <a:solidFill>
                  <a:schemeClr val="tx1">
                    <a:lumMod val="50000"/>
                    <a:lumOff val="50000"/>
                  </a:schemeClr>
                </a:solidFill>
              </a:rPr>
              <a:t> on where the leaders are </a:t>
            </a:r>
            <a:r>
              <a:rPr lang="en-US" b="1" dirty="0">
                <a:solidFill>
                  <a:srgbClr val="0070C0"/>
                </a:solidFill>
              </a:rPr>
              <a:t>headed,</a:t>
            </a:r>
            <a:r>
              <a:rPr lang="en-US" b="1" dirty="0">
                <a:solidFill>
                  <a:schemeClr val="tx1">
                    <a:lumMod val="50000"/>
                    <a:lumOff val="50000"/>
                  </a:schemeClr>
                </a:solidFill>
              </a:rPr>
              <a:t> and a </a:t>
            </a:r>
            <a:r>
              <a:rPr lang="en-US" b="1" i="1" dirty="0">
                <a:solidFill>
                  <a:srgbClr val="FFC000"/>
                </a:solidFill>
              </a:rPr>
              <a:t>Data Strategy</a:t>
            </a:r>
            <a:r>
              <a:rPr lang="en-US" b="1" dirty="0">
                <a:solidFill>
                  <a:srgbClr val="FFC000"/>
                </a:solidFill>
              </a:rPr>
              <a:t> </a:t>
            </a:r>
            <a:r>
              <a:rPr lang="en-US" b="1" dirty="0">
                <a:solidFill>
                  <a:srgbClr val="0070C0"/>
                </a:solidFill>
              </a:rPr>
              <a:t>measures</a:t>
            </a:r>
            <a:r>
              <a:rPr lang="en-US" b="1" dirty="0">
                <a:solidFill>
                  <a:schemeClr val="tx1">
                    <a:lumMod val="50000"/>
                    <a:lumOff val="50000"/>
                  </a:schemeClr>
                </a:solidFill>
              </a:rPr>
              <a:t> how well the business goals are being </a:t>
            </a:r>
            <a:r>
              <a:rPr lang="en-US" b="1" dirty="0">
                <a:solidFill>
                  <a:srgbClr val="0070C0"/>
                </a:solidFill>
              </a:rPr>
              <a:t>achieved</a:t>
            </a:r>
          </a:p>
        </p:txBody>
      </p:sp>
      <p:sp>
        <p:nvSpPr>
          <p:cNvPr id="2" name="Rectangle: Top Corners Snipped 1">
            <a:extLst>
              <a:ext uri="{FF2B5EF4-FFF2-40B4-BE49-F238E27FC236}">
                <a16:creationId xmlns:a16="http://schemas.microsoft.com/office/drawing/2014/main" id="{BDF9C8EF-7918-385B-9EF6-22E63F0C7CB4}"/>
              </a:ext>
            </a:extLst>
          </p:cNvPr>
          <p:cNvSpPr/>
          <p:nvPr/>
        </p:nvSpPr>
        <p:spPr>
          <a:xfrm>
            <a:off x="175293" y="2067719"/>
            <a:ext cx="11841410" cy="3216467"/>
          </a:xfrm>
          <a:prstGeom prst="snip2SameRect">
            <a:avLst/>
          </a:prstGeom>
          <a:solidFill>
            <a:srgbClr val="ED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Straight Arrow Connector 2">
            <a:extLst>
              <a:ext uri="{FF2B5EF4-FFF2-40B4-BE49-F238E27FC236}">
                <a16:creationId xmlns:a16="http://schemas.microsoft.com/office/drawing/2014/main" id="{D62E8812-4B5B-C85D-1DF7-F13E0756EC51}"/>
              </a:ext>
            </a:extLst>
          </p:cNvPr>
          <p:cNvCxnSpPr>
            <a:cxnSpLocks/>
            <a:stCxn id="7" idx="2"/>
            <a:endCxn id="13" idx="0"/>
          </p:cNvCxnSpPr>
          <p:nvPr/>
        </p:nvCxnSpPr>
        <p:spPr>
          <a:xfrm flipH="1">
            <a:off x="6076803" y="1702891"/>
            <a:ext cx="19197" cy="1419436"/>
          </a:xfrm>
          <a:prstGeom prst="straightConnector1">
            <a:avLst/>
          </a:prstGeom>
          <a:ln w="762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D07DFDF-B87B-1A6C-5227-D81A222E1708}"/>
              </a:ext>
            </a:extLst>
          </p:cNvPr>
          <p:cNvSpPr txBox="1"/>
          <p:nvPr/>
        </p:nvSpPr>
        <p:spPr>
          <a:xfrm>
            <a:off x="3977142" y="933450"/>
            <a:ext cx="4237715" cy="769441"/>
          </a:xfrm>
          <a:prstGeom prst="rect">
            <a:avLst/>
          </a:prstGeom>
          <a:solidFill>
            <a:srgbClr val="95D3CF"/>
          </a:solidFill>
        </p:spPr>
        <p:txBody>
          <a:bodyPr wrap="square">
            <a:spAutoFit/>
          </a:bodyPr>
          <a:lstStyle/>
          <a:p>
            <a:pPr algn="ctr"/>
            <a:r>
              <a:rPr lang="en-US" sz="2200" b="1" dirty="0">
                <a:solidFill>
                  <a:schemeClr val="tx1">
                    <a:lumMod val="50000"/>
                    <a:lumOff val="50000"/>
                  </a:schemeClr>
                </a:solidFill>
              </a:rPr>
              <a:t>We need to know we are headed in the right direction…</a:t>
            </a:r>
          </a:p>
        </p:txBody>
      </p:sp>
      <p:sp>
        <p:nvSpPr>
          <p:cNvPr id="8" name="Rectangle 7">
            <a:extLst>
              <a:ext uri="{FF2B5EF4-FFF2-40B4-BE49-F238E27FC236}">
                <a16:creationId xmlns:a16="http://schemas.microsoft.com/office/drawing/2014/main" id="{71B24950-52A2-A8EE-D8D5-16DEA49918A2}"/>
              </a:ext>
            </a:extLst>
          </p:cNvPr>
          <p:cNvSpPr/>
          <p:nvPr/>
        </p:nvSpPr>
        <p:spPr>
          <a:xfrm>
            <a:off x="343154" y="3545477"/>
            <a:ext cx="2660431" cy="898623"/>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Increase Revenue by 20%</a:t>
            </a:r>
          </a:p>
        </p:txBody>
      </p:sp>
      <p:sp>
        <p:nvSpPr>
          <p:cNvPr id="9" name="Rectangle 8">
            <a:extLst>
              <a:ext uri="{FF2B5EF4-FFF2-40B4-BE49-F238E27FC236}">
                <a16:creationId xmlns:a16="http://schemas.microsoft.com/office/drawing/2014/main" id="{909E46DC-5CED-14CA-5A5A-84FE79F5D70B}"/>
              </a:ext>
            </a:extLst>
          </p:cNvPr>
          <p:cNvSpPr/>
          <p:nvPr/>
        </p:nvSpPr>
        <p:spPr>
          <a:xfrm>
            <a:off x="3215288" y="3545479"/>
            <a:ext cx="2660431" cy="898623"/>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Grow Brand Awareness</a:t>
            </a:r>
          </a:p>
        </p:txBody>
      </p:sp>
      <p:sp>
        <p:nvSpPr>
          <p:cNvPr id="10" name="Rectangle 9">
            <a:extLst>
              <a:ext uri="{FF2B5EF4-FFF2-40B4-BE49-F238E27FC236}">
                <a16:creationId xmlns:a16="http://schemas.microsoft.com/office/drawing/2014/main" id="{A74ACD2F-9600-1029-CEAE-09E6DAC7C62B}"/>
              </a:ext>
            </a:extLst>
          </p:cNvPr>
          <p:cNvSpPr/>
          <p:nvPr/>
        </p:nvSpPr>
        <p:spPr>
          <a:xfrm>
            <a:off x="6277886" y="3545479"/>
            <a:ext cx="2660431" cy="898623"/>
          </a:xfrm>
          <a:prstGeom prst="rect">
            <a:avLst/>
          </a:prstGeom>
          <a:solidFill>
            <a:srgbClr val="FAE1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Improve Employee Retention</a:t>
            </a:r>
          </a:p>
        </p:txBody>
      </p:sp>
      <p:sp>
        <p:nvSpPr>
          <p:cNvPr id="11" name="Rectangle 10">
            <a:extLst>
              <a:ext uri="{FF2B5EF4-FFF2-40B4-BE49-F238E27FC236}">
                <a16:creationId xmlns:a16="http://schemas.microsoft.com/office/drawing/2014/main" id="{F3E4F1D1-60EB-C759-0A8B-6D86B2ACC486}"/>
              </a:ext>
            </a:extLst>
          </p:cNvPr>
          <p:cNvSpPr/>
          <p:nvPr/>
        </p:nvSpPr>
        <p:spPr>
          <a:xfrm>
            <a:off x="9150020" y="3545478"/>
            <a:ext cx="2660431" cy="898623"/>
          </a:xfrm>
          <a:prstGeom prst="rect">
            <a:avLst/>
          </a:prstGeom>
          <a:solidFill>
            <a:srgbClr val="E3D9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Improve Customer Service</a:t>
            </a:r>
          </a:p>
        </p:txBody>
      </p:sp>
      <p:sp>
        <p:nvSpPr>
          <p:cNvPr id="12" name="TextBox 11">
            <a:extLst>
              <a:ext uri="{FF2B5EF4-FFF2-40B4-BE49-F238E27FC236}">
                <a16:creationId xmlns:a16="http://schemas.microsoft.com/office/drawing/2014/main" id="{EC165154-619D-C83F-D942-E718A2D254E2}"/>
              </a:ext>
            </a:extLst>
          </p:cNvPr>
          <p:cNvSpPr txBox="1"/>
          <p:nvPr/>
        </p:nvSpPr>
        <p:spPr>
          <a:xfrm>
            <a:off x="3770240" y="4757430"/>
            <a:ext cx="4651513" cy="369332"/>
          </a:xfrm>
          <a:prstGeom prst="rect">
            <a:avLst/>
          </a:prstGeom>
          <a:solidFill>
            <a:srgbClr val="EDF0F2"/>
          </a:solidFill>
          <a:ln w="28575">
            <a:solidFill>
              <a:srgbClr val="0070C0"/>
            </a:solidFill>
            <a:prstDash val="sysDash"/>
          </a:ln>
        </p:spPr>
        <p:txBody>
          <a:bodyPr wrap="square" rtlCol="0">
            <a:spAutoFit/>
          </a:bodyPr>
          <a:lstStyle/>
          <a:p>
            <a:pPr algn="ctr"/>
            <a:r>
              <a:rPr lang="en-GB" b="1" i="1" dirty="0">
                <a:solidFill>
                  <a:schemeClr val="tx1">
                    <a:lumMod val="50000"/>
                    <a:lumOff val="50000"/>
                  </a:schemeClr>
                </a:solidFill>
              </a:rPr>
              <a:t>Business</a:t>
            </a:r>
          </a:p>
        </p:txBody>
      </p:sp>
      <p:sp>
        <p:nvSpPr>
          <p:cNvPr id="13" name="TextBox 12">
            <a:extLst>
              <a:ext uri="{FF2B5EF4-FFF2-40B4-BE49-F238E27FC236}">
                <a16:creationId xmlns:a16="http://schemas.microsoft.com/office/drawing/2014/main" id="{96404DFC-CE7E-9F6C-E9A4-F535811D78AE}"/>
              </a:ext>
            </a:extLst>
          </p:cNvPr>
          <p:cNvSpPr txBox="1"/>
          <p:nvPr/>
        </p:nvSpPr>
        <p:spPr>
          <a:xfrm>
            <a:off x="343154" y="3122327"/>
            <a:ext cx="11467297" cy="369332"/>
          </a:xfrm>
          <a:prstGeom prst="rect">
            <a:avLst/>
          </a:prstGeom>
          <a:solidFill>
            <a:srgbClr val="0070C0"/>
          </a:solidFill>
          <a:ln w="57150">
            <a:solidFill>
              <a:srgbClr val="EDF0F2"/>
            </a:solidFill>
            <a:prstDash val="dash"/>
          </a:ln>
        </p:spPr>
        <p:txBody>
          <a:bodyPr wrap="square" rtlCol="0">
            <a:spAutoFit/>
          </a:bodyPr>
          <a:lstStyle/>
          <a:p>
            <a:pPr algn="ctr"/>
            <a:r>
              <a:rPr lang="en-GB" b="1" i="1" dirty="0">
                <a:solidFill>
                  <a:schemeClr val="bg1"/>
                </a:solidFill>
              </a:rPr>
              <a:t>DIRECTION</a:t>
            </a:r>
          </a:p>
        </p:txBody>
      </p:sp>
      <p:cxnSp>
        <p:nvCxnSpPr>
          <p:cNvPr id="17" name="Straight Arrow Connector 16">
            <a:extLst>
              <a:ext uri="{FF2B5EF4-FFF2-40B4-BE49-F238E27FC236}">
                <a16:creationId xmlns:a16="http://schemas.microsoft.com/office/drawing/2014/main" id="{130FF548-3885-ACAC-728B-A81F3865954F}"/>
              </a:ext>
            </a:extLst>
          </p:cNvPr>
          <p:cNvCxnSpPr>
            <a:cxnSpLocks/>
            <a:stCxn id="13" idx="2"/>
            <a:endCxn id="12" idx="0"/>
          </p:cNvCxnSpPr>
          <p:nvPr/>
        </p:nvCxnSpPr>
        <p:spPr>
          <a:xfrm>
            <a:off x="6076803" y="3491659"/>
            <a:ext cx="19194" cy="1265771"/>
          </a:xfrm>
          <a:prstGeom prst="straightConnector1">
            <a:avLst/>
          </a:prstGeom>
          <a:ln w="762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E7FCA50-5AC2-05A5-7789-FA6B4B4B70C7}"/>
              </a:ext>
            </a:extLst>
          </p:cNvPr>
          <p:cNvSpPr txBox="1"/>
          <p:nvPr/>
        </p:nvSpPr>
        <p:spPr>
          <a:xfrm>
            <a:off x="3770240" y="2287666"/>
            <a:ext cx="4651510" cy="369332"/>
          </a:xfrm>
          <a:prstGeom prst="rect">
            <a:avLst/>
          </a:prstGeom>
          <a:solidFill>
            <a:srgbClr val="FFC000"/>
          </a:solidFill>
          <a:ln w="28575">
            <a:solidFill>
              <a:srgbClr val="0070C0"/>
            </a:solidFill>
            <a:prstDash val="sysDash"/>
          </a:ln>
        </p:spPr>
        <p:txBody>
          <a:bodyPr wrap="square" rtlCol="0">
            <a:spAutoFit/>
          </a:bodyPr>
          <a:lstStyle/>
          <a:p>
            <a:pPr algn="ctr"/>
            <a:r>
              <a:rPr lang="en-GB" b="1" i="1" dirty="0">
                <a:solidFill>
                  <a:schemeClr val="bg1"/>
                </a:solidFill>
              </a:rPr>
              <a:t>Data Strategy</a:t>
            </a:r>
          </a:p>
        </p:txBody>
      </p:sp>
      <p:sp>
        <p:nvSpPr>
          <p:cNvPr id="6" name="Text Placeholder 19">
            <a:extLst>
              <a:ext uri="{FF2B5EF4-FFF2-40B4-BE49-F238E27FC236}">
                <a16:creationId xmlns:a16="http://schemas.microsoft.com/office/drawing/2014/main" id="{38DE320B-7016-E4AB-0709-7D7B01F87483}"/>
              </a:ext>
            </a:extLst>
          </p:cNvPr>
          <p:cNvSpPr txBox="1">
            <a:spLocks/>
          </p:cNvSpPr>
          <p:nvPr/>
        </p:nvSpPr>
        <p:spPr>
          <a:xfrm>
            <a:off x="264920" y="272321"/>
            <a:ext cx="11927080" cy="661129"/>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Strategy and Culture</a:t>
            </a:r>
          </a:p>
        </p:txBody>
      </p:sp>
    </p:spTree>
    <p:extLst>
      <p:ext uri="{BB962C8B-B14F-4D97-AF65-F5344CB8AC3E}">
        <p14:creationId xmlns:p14="http://schemas.microsoft.com/office/powerpoint/2010/main" val="1439970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Top Corners Snipped 1">
            <a:extLst>
              <a:ext uri="{FF2B5EF4-FFF2-40B4-BE49-F238E27FC236}">
                <a16:creationId xmlns:a16="http://schemas.microsoft.com/office/drawing/2014/main" id="{BDF9C8EF-7918-385B-9EF6-22E63F0C7CB4}"/>
              </a:ext>
            </a:extLst>
          </p:cNvPr>
          <p:cNvSpPr/>
          <p:nvPr/>
        </p:nvSpPr>
        <p:spPr>
          <a:xfrm>
            <a:off x="175295" y="1837321"/>
            <a:ext cx="11841410" cy="3183357"/>
          </a:xfrm>
          <a:prstGeom prst="snip2SameRect">
            <a:avLst/>
          </a:prstGeom>
          <a:solidFill>
            <a:srgbClr val="EDF0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 name="Straight Arrow Connector 2">
            <a:extLst>
              <a:ext uri="{FF2B5EF4-FFF2-40B4-BE49-F238E27FC236}">
                <a16:creationId xmlns:a16="http://schemas.microsoft.com/office/drawing/2014/main" id="{D62E8812-4B5B-C85D-1DF7-F13E0756EC51}"/>
              </a:ext>
            </a:extLst>
          </p:cNvPr>
          <p:cNvCxnSpPr>
            <a:cxnSpLocks/>
            <a:stCxn id="7" idx="2"/>
            <a:endCxn id="13" idx="0"/>
          </p:cNvCxnSpPr>
          <p:nvPr/>
        </p:nvCxnSpPr>
        <p:spPr>
          <a:xfrm flipH="1">
            <a:off x="6076805" y="1702891"/>
            <a:ext cx="19195" cy="1189038"/>
          </a:xfrm>
          <a:prstGeom prst="straightConnector1">
            <a:avLst/>
          </a:prstGeom>
          <a:ln w="762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D07DFDF-B87B-1A6C-5227-D81A222E1708}"/>
              </a:ext>
            </a:extLst>
          </p:cNvPr>
          <p:cNvSpPr txBox="1"/>
          <p:nvPr/>
        </p:nvSpPr>
        <p:spPr>
          <a:xfrm>
            <a:off x="3977142" y="933450"/>
            <a:ext cx="4237715" cy="769441"/>
          </a:xfrm>
          <a:prstGeom prst="rect">
            <a:avLst/>
          </a:prstGeom>
          <a:solidFill>
            <a:srgbClr val="95D3CF"/>
          </a:solidFill>
        </p:spPr>
        <p:txBody>
          <a:bodyPr wrap="square">
            <a:spAutoFit/>
          </a:bodyPr>
          <a:lstStyle/>
          <a:p>
            <a:pPr algn="ctr"/>
            <a:r>
              <a:rPr lang="en-US" sz="2200" b="1" dirty="0">
                <a:solidFill>
                  <a:schemeClr val="tx1">
                    <a:lumMod val="50000"/>
                    <a:lumOff val="50000"/>
                  </a:schemeClr>
                </a:solidFill>
              </a:rPr>
              <a:t>We need to know we are headed in the right direction…</a:t>
            </a:r>
          </a:p>
        </p:txBody>
      </p:sp>
      <p:sp>
        <p:nvSpPr>
          <p:cNvPr id="8" name="Rectangle 7">
            <a:extLst>
              <a:ext uri="{FF2B5EF4-FFF2-40B4-BE49-F238E27FC236}">
                <a16:creationId xmlns:a16="http://schemas.microsoft.com/office/drawing/2014/main" id="{71B24950-52A2-A8EE-D8D5-16DEA49918A2}"/>
              </a:ext>
            </a:extLst>
          </p:cNvPr>
          <p:cNvSpPr/>
          <p:nvPr/>
        </p:nvSpPr>
        <p:spPr>
          <a:xfrm>
            <a:off x="343156" y="3315079"/>
            <a:ext cx="2660431" cy="898623"/>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Increase Revenue by 20%</a:t>
            </a:r>
          </a:p>
        </p:txBody>
      </p:sp>
      <p:sp>
        <p:nvSpPr>
          <p:cNvPr id="9" name="Rectangle 8">
            <a:extLst>
              <a:ext uri="{FF2B5EF4-FFF2-40B4-BE49-F238E27FC236}">
                <a16:creationId xmlns:a16="http://schemas.microsoft.com/office/drawing/2014/main" id="{909E46DC-5CED-14CA-5A5A-84FE79F5D70B}"/>
              </a:ext>
            </a:extLst>
          </p:cNvPr>
          <p:cNvSpPr/>
          <p:nvPr/>
        </p:nvSpPr>
        <p:spPr>
          <a:xfrm>
            <a:off x="3215290" y="3315081"/>
            <a:ext cx="2660431" cy="898623"/>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Grow Brand Awareness</a:t>
            </a:r>
          </a:p>
        </p:txBody>
      </p:sp>
      <p:sp>
        <p:nvSpPr>
          <p:cNvPr id="10" name="Rectangle 9">
            <a:extLst>
              <a:ext uri="{FF2B5EF4-FFF2-40B4-BE49-F238E27FC236}">
                <a16:creationId xmlns:a16="http://schemas.microsoft.com/office/drawing/2014/main" id="{A74ACD2F-9600-1029-CEAE-09E6DAC7C62B}"/>
              </a:ext>
            </a:extLst>
          </p:cNvPr>
          <p:cNvSpPr/>
          <p:nvPr/>
        </p:nvSpPr>
        <p:spPr>
          <a:xfrm>
            <a:off x="6277888" y="3315081"/>
            <a:ext cx="2660431" cy="898623"/>
          </a:xfrm>
          <a:prstGeom prst="rect">
            <a:avLst/>
          </a:prstGeom>
          <a:solidFill>
            <a:srgbClr val="FAE1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Improve Employee Retention</a:t>
            </a:r>
          </a:p>
        </p:txBody>
      </p:sp>
      <p:sp>
        <p:nvSpPr>
          <p:cNvPr id="11" name="Rectangle 10">
            <a:extLst>
              <a:ext uri="{FF2B5EF4-FFF2-40B4-BE49-F238E27FC236}">
                <a16:creationId xmlns:a16="http://schemas.microsoft.com/office/drawing/2014/main" id="{F3E4F1D1-60EB-C759-0A8B-6D86B2ACC486}"/>
              </a:ext>
            </a:extLst>
          </p:cNvPr>
          <p:cNvSpPr/>
          <p:nvPr/>
        </p:nvSpPr>
        <p:spPr>
          <a:xfrm>
            <a:off x="9150022" y="3315080"/>
            <a:ext cx="2660431" cy="898623"/>
          </a:xfrm>
          <a:prstGeom prst="rect">
            <a:avLst/>
          </a:prstGeom>
          <a:solidFill>
            <a:srgbClr val="E3D9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300" dirty="0">
                <a:solidFill>
                  <a:schemeClr val="bg1">
                    <a:lumMod val="50000"/>
                  </a:schemeClr>
                </a:solidFill>
              </a:rPr>
              <a:t>Improve Customer Service</a:t>
            </a:r>
          </a:p>
        </p:txBody>
      </p:sp>
      <p:sp>
        <p:nvSpPr>
          <p:cNvPr id="12" name="TextBox 11">
            <a:extLst>
              <a:ext uri="{FF2B5EF4-FFF2-40B4-BE49-F238E27FC236}">
                <a16:creationId xmlns:a16="http://schemas.microsoft.com/office/drawing/2014/main" id="{EC165154-619D-C83F-D942-E718A2D254E2}"/>
              </a:ext>
            </a:extLst>
          </p:cNvPr>
          <p:cNvSpPr txBox="1"/>
          <p:nvPr/>
        </p:nvSpPr>
        <p:spPr>
          <a:xfrm>
            <a:off x="3770242" y="4527032"/>
            <a:ext cx="4651513" cy="369332"/>
          </a:xfrm>
          <a:prstGeom prst="rect">
            <a:avLst/>
          </a:prstGeom>
          <a:solidFill>
            <a:srgbClr val="EDF0F2"/>
          </a:solidFill>
          <a:ln w="28575">
            <a:solidFill>
              <a:srgbClr val="0070C0"/>
            </a:solidFill>
            <a:prstDash val="sysDash"/>
          </a:ln>
        </p:spPr>
        <p:txBody>
          <a:bodyPr wrap="square" rtlCol="0">
            <a:spAutoFit/>
          </a:bodyPr>
          <a:lstStyle/>
          <a:p>
            <a:pPr algn="ctr"/>
            <a:r>
              <a:rPr lang="en-GB" b="1" i="1" dirty="0">
                <a:solidFill>
                  <a:schemeClr val="tx1">
                    <a:lumMod val="50000"/>
                    <a:lumOff val="50000"/>
                  </a:schemeClr>
                </a:solidFill>
              </a:rPr>
              <a:t>Business</a:t>
            </a:r>
          </a:p>
        </p:txBody>
      </p:sp>
      <p:sp>
        <p:nvSpPr>
          <p:cNvPr id="13" name="TextBox 12">
            <a:extLst>
              <a:ext uri="{FF2B5EF4-FFF2-40B4-BE49-F238E27FC236}">
                <a16:creationId xmlns:a16="http://schemas.microsoft.com/office/drawing/2014/main" id="{96404DFC-CE7E-9F6C-E9A4-F535811D78AE}"/>
              </a:ext>
            </a:extLst>
          </p:cNvPr>
          <p:cNvSpPr txBox="1"/>
          <p:nvPr/>
        </p:nvSpPr>
        <p:spPr>
          <a:xfrm>
            <a:off x="343156" y="2891929"/>
            <a:ext cx="11467297" cy="369332"/>
          </a:xfrm>
          <a:prstGeom prst="rect">
            <a:avLst/>
          </a:prstGeom>
          <a:solidFill>
            <a:srgbClr val="0070C0"/>
          </a:solidFill>
          <a:ln w="57150">
            <a:solidFill>
              <a:srgbClr val="EDF0F2"/>
            </a:solidFill>
            <a:prstDash val="dash"/>
          </a:ln>
        </p:spPr>
        <p:txBody>
          <a:bodyPr wrap="square" rtlCol="0">
            <a:spAutoFit/>
          </a:bodyPr>
          <a:lstStyle/>
          <a:p>
            <a:pPr algn="ctr"/>
            <a:r>
              <a:rPr lang="en-GB" b="1" i="1" dirty="0">
                <a:solidFill>
                  <a:schemeClr val="bg1"/>
                </a:solidFill>
              </a:rPr>
              <a:t>DIRECTION</a:t>
            </a:r>
          </a:p>
        </p:txBody>
      </p:sp>
      <p:cxnSp>
        <p:nvCxnSpPr>
          <p:cNvPr id="17" name="Straight Arrow Connector 16">
            <a:extLst>
              <a:ext uri="{FF2B5EF4-FFF2-40B4-BE49-F238E27FC236}">
                <a16:creationId xmlns:a16="http://schemas.microsoft.com/office/drawing/2014/main" id="{130FF548-3885-ACAC-728B-A81F3865954F}"/>
              </a:ext>
            </a:extLst>
          </p:cNvPr>
          <p:cNvCxnSpPr>
            <a:cxnSpLocks/>
            <a:stCxn id="13" idx="2"/>
            <a:endCxn id="12" idx="0"/>
          </p:cNvCxnSpPr>
          <p:nvPr/>
        </p:nvCxnSpPr>
        <p:spPr>
          <a:xfrm>
            <a:off x="6076805" y="3261261"/>
            <a:ext cx="19194" cy="1265771"/>
          </a:xfrm>
          <a:prstGeom prst="straightConnector1">
            <a:avLst/>
          </a:prstGeom>
          <a:ln w="762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E7FCA50-5AC2-05A5-7789-FA6B4B4B70C7}"/>
              </a:ext>
            </a:extLst>
          </p:cNvPr>
          <p:cNvSpPr txBox="1"/>
          <p:nvPr/>
        </p:nvSpPr>
        <p:spPr>
          <a:xfrm>
            <a:off x="3770242" y="2057268"/>
            <a:ext cx="4651510" cy="369332"/>
          </a:xfrm>
          <a:prstGeom prst="rect">
            <a:avLst/>
          </a:prstGeom>
          <a:solidFill>
            <a:srgbClr val="FFC000"/>
          </a:solidFill>
          <a:ln w="28575">
            <a:solidFill>
              <a:srgbClr val="0070C0"/>
            </a:solidFill>
            <a:prstDash val="sysDash"/>
          </a:ln>
        </p:spPr>
        <p:txBody>
          <a:bodyPr wrap="square" rtlCol="0">
            <a:spAutoFit/>
          </a:bodyPr>
          <a:lstStyle/>
          <a:p>
            <a:pPr algn="ctr"/>
            <a:r>
              <a:rPr lang="en-GB" b="1" i="1" dirty="0">
                <a:solidFill>
                  <a:schemeClr val="bg1"/>
                </a:solidFill>
              </a:rPr>
              <a:t>Data Strategy</a:t>
            </a:r>
          </a:p>
        </p:txBody>
      </p:sp>
      <p:sp>
        <p:nvSpPr>
          <p:cNvPr id="5" name="Left Brace 4">
            <a:extLst>
              <a:ext uri="{FF2B5EF4-FFF2-40B4-BE49-F238E27FC236}">
                <a16:creationId xmlns:a16="http://schemas.microsoft.com/office/drawing/2014/main" id="{78A3B2F8-A408-BD20-8E95-3D652832C6B5}"/>
              </a:ext>
            </a:extLst>
          </p:cNvPr>
          <p:cNvSpPr/>
          <p:nvPr/>
        </p:nvSpPr>
        <p:spPr>
          <a:xfrm rot="16200000">
            <a:off x="5765433" y="-826504"/>
            <a:ext cx="661129" cy="12014948"/>
          </a:xfrm>
          <a:prstGeom prst="leftBrace">
            <a:avLst/>
          </a:prstGeom>
          <a:ln>
            <a:solidFill>
              <a:srgbClr val="95D3C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6" name="TextBox 5">
            <a:extLst>
              <a:ext uri="{FF2B5EF4-FFF2-40B4-BE49-F238E27FC236}">
                <a16:creationId xmlns:a16="http://schemas.microsoft.com/office/drawing/2014/main" id="{F19B375E-9FE2-144C-764D-7700989AB690}"/>
              </a:ext>
            </a:extLst>
          </p:cNvPr>
          <p:cNvSpPr txBox="1"/>
          <p:nvPr/>
        </p:nvSpPr>
        <p:spPr>
          <a:xfrm>
            <a:off x="9479057" y="5241715"/>
            <a:ext cx="2002359" cy="584775"/>
          </a:xfrm>
          <a:prstGeom prst="rect">
            <a:avLst/>
          </a:prstGeom>
          <a:solidFill>
            <a:srgbClr val="95D3CF"/>
          </a:solidFill>
        </p:spPr>
        <p:txBody>
          <a:bodyPr wrap="square" rtlCol="0">
            <a:spAutoFit/>
          </a:bodyPr>
          <a:lstStyle/>
          <a:p>
            <a:pPr algn="ctr"/>
            <a:r>
              <a:rPr lang="en-US" sz="1600" b="1" dirty="0"/>
              <a:t>Improving Communication</a:t>
            </a:r>
            <a:endParaRPr lang="en-GB" sz="1600" b="1" dirty="0"/>
          </a:p>
        </p:txBody>
      </p:sp>
      <p:sp>
        <p:nvSpPr>
          <p:cNvPr id="14" name="TextBox 13">
            <a:extLst>
              <a:ext uri="{FF2B5EF4-FFF2-40B4-BE49-F238E27FC236}">
                <a16:creationId xmlns:a16="http://schemas.microsoft.com/office/drawing/2014/main" id="{511A2FA9-62AE-3FF3-1925-42C1628C89D5}"/>
              </a:ext>
            </a:extLst>
          </p:cNvPr>
          <p:cNvSpPr txBox="1"/>
          <p:nvPr/>
        </p:nvSpPr>
        <p:spPr>
          <a:xfrm>
            <a:off x="672191" y="5342258"/>
            <a:ext cx="2002359" cy="338554"/>
          </a:xfrm>
          <a:prstGeom prst="rect">
            <a:avLst/>
          </a:prstGeom>
          <a:solidFill>
            <a:srgbClr val="95D3CF"/>
          </a:solidFill>
        </p:spPr>
        <p:txBody>
          <a:bodyPr wrap="square" rtlCol="0">
            <a:spAutoFit/>
          </a:bodyPr>
          <a:lstStyle/>
          <a:p>
            <a:pPr algn="ctr"/>
            <a:r>
              <a:rPr lang="en-US" sz="1600" b="1"/>
              <a:t>Ownership</a:t>
            </a:r>
            <a:endParaRPr lang="en-GB" sz="1600" b="1"/>
          </a:p>
        </p:txBody>
      </p:sp>
      <p:sp>
        <p:nvSpPr>
          <p:cNvPr id="15" name="TextBox 14">
            <a:extLst>
              <a:ext uri="{FF2B5EF4-FFF2-40B4-BE49-F238E27FC236}">
                <a16:creationId xmlns:a16="http://schemas.microsoft.com/office/drawing/2014/main" id="{5F8FFA49-C965-15EE-E21C-2FD8A41D04F2}"/>
              </a:ext>
            </a:extLst>
          </p:cNvPr>
          <p:cNvSpPr txBox="1"/>
          <p:nvPr/>
        </p:nvSpPr>
        <p:spPr>
          <a:xfrm>
            <a:off x="3514778" y="5250133"/>
            <a:ext cx="2061453" cy="584775"/>
          </a:xfrm>
          <a:prstGeom prst="rect">
            <a:avLst/>
          </a:prstGeom>
          <a:solidFill>
            <a:srgbClr val="95D3CF"/>
          </a:solidFill>
        </p:spPr>
        <p:txBody>
          <a:bodyPr wrap="square" rtlCol="0">
            <a:spAutoFit/>
          </a:bodyPr>
          <a:lstStyle/>
          <a:p>
            <a:pPr algn="ctr"/>
            <a:r>
              <a:rPr lang="en-US" sz="1600" b="1" dirty="0"/>
              <a:t>Training and Development</a:t>
            </a:r>
            <a:endParaRPr lang="en-GB" sz="1600" b="1" dirty="0"/>
          </a:p>
        </p:txBody>
      </p:sp>
      <p:sp>
        <p:nvSpPr>
          <p:cNvPr id="16" name="TextBox 15">
            <a:extLst>
              <a:ext uri="{FF2B5EF4-FFF2-40B4-BE49-F238E27FC236}">
                <a16:creationId xmlns:a16="http://schemas.microsoft.com/office/drawing/2014/main" id="{A2F47617-C30A-DAC1-342C-197EA237FAF8}"/>
              </a:ext>
            </a:extLst>
          </p:cNvPr>
          <p:cNvSpPr txBox="1"/>
          <p:nvPr/>
        </p:nvSpPr>
        <p:spPr>
          <a:xfrm>
            <a:off x="6606923" y="5363788"/>
            <a:ext cx="2002359" cy="338554"/>
          </a:xfrm>
          <a:prstGeom prst="rect">
            <a:avLst/>
          </a:prstGeom>
          <a:solidFill>
            <a:srgbClr val="95D3CF"/>
          </a:solidFill>
        </p:spPr>
        <p:txBody>
          <a:bodyPr wrap="square" rtlCol="0">
            <a:spAutoFit/>
          </a:bodyPr>
          <a:lstStyle/>
          <a:p>
            <a:pPr algn="ctr"/>
            <a:r>
              <a:rPr lang="en-US" sz="1600" b="1" dirty="0"/>
              <a:t>Data Governance</a:t>
            </a:r>
            <a:endParaRPr lang="en-GB" sz="1600" b="1" dirty="0"/>
          </a:p>
        </p:txBody>
      </p:sp>
      <p:sp>
        <p:nvSpPr>
          <p:cNvPr id="19" name="TextBox 18">
            <a:extLst>
              <a:ext uri="{FF2B5EF4-FFF2-40B4-BE49-F238E27FC236}">
                <a16:creationId xmlns:a16="http://schemas.microsoft.com/office/drawing/2014/main" id="{23D717DB-30EC-F369-C452-E140917985F3}"/>
              </a:ext>
            </a:extLst>
          </p:cNvPr>
          <p:cNvSpPr txBox="1"/>
          <p:nvPr/>
        </p:nvSpPr>
        <p:spPr>
          <a:xfrm>
            <a:off x="3003587" y="6205096"/>
            <a:ext cx="6146435" cy="338554"/>
          </a:xfrm>
          <a:prstGeom prst="rect">
            <a:avLst/>
          </a:prstGeom>
          <a:solidFill>
            <a:srgbClr val="95D3CF"/>
          </a:solidFill>
        </p:spPr>
        <p:txBody>
          <a:bodyPr wrap="square" rtlCol="0">
            <a:spAutoFit/>
          </a:bodyPr>
          <a:lstStyle/>
          <a:p>
            <a:pPr algn="ctr"/>
            <a:r>
              <a:rPr lang="en-US" sz="1600" b="1" dirty="0"/>
              <a:t>Data Culture</a:t>
            </a:r>
            <a:endParaRPr lang="en-GB" sz="1600" b="1" dirty="0"/>
          </a:p>
        </p:txBody>
      </p:sp>
      <p:sp>
        <p:nvSpPr>
          <p:cNvPr id="21" name="Text Placeholder 19">
            <a:extLst>
              <a:ext uri="{FF2B5EF4-FFF2-40B4-BE49-F238E27FC236}">
                <a16:creationId xmlns:a16="http://schemas.microsoft.com/office/drawing/2014/main" id="{2E6C7FBE-EAC8-4F99-F55F-C8FE94AE5087}"/>
              </a:ext>
            </a:extLst>
          </p:cNvPr>
          <p:cNvSpPr txBox="1">
            <a:spLocks/>
          </p:cNvSpPr>
          <p:nvPr/>
        </p:nvSpPr>
        <p:spPr>
          <a:xfrm>
            <a:off x="264920" y="272321"/>
            <a:ext cx="11927080" cy="661129"/>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Strategy and Culture</a:t>
            </a:r>
          </a:p>
        </p:txBody>
      </p:sp>
    </p:spTree>
    <p:extLst>
      <p:ext uri="{BB962C8B-B14F-4D97-AF65-F5344CB8AC3E}">
        <p14:creationId xmlns:p14="http://schemas.microsoft.com/office/powerpoint/2010/main" val="4172628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7" name="Title 7">
            <a:extLst>
              <a:ext uri="{FF2B5EF4-FFF2-40B4-BE49-F238E27FC236}">
                <a16:creationId xmlns:a16="http://schemas.microsoft.com/office/drawing/2014/main" id="{445228F5-A3E5-37D3-9B73-F2877EF6AF70}"/>
              </a:ext>
            </a:extLst>
          </p:cNvPr>
          <p:cNvSpPr txBox="1">
            <a:spLocks/>
          </p:cNvSpPr>
          <p:nvPr/>
        </p:nvSpPr>
        <p:spPr>
          <a:xfrm>
            <a:off x="0" y="599358"/>
            <a:ext cx="12192000" cy="143165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00B050"/>
                </a:solidFill>
                <a:latin typeface="Arial (Body)"/>
              </a:rPr>
              <a:t>How do we implement Data Culture</a:t>
            </a:r>
            <a:endParaRPr lang="en-US" sz="2000" b="1" dirty="0">
              <a:solidFill>
                <a:srgbClr val="0070C0"/>
              </a:solidFill>
              <a:latin typeface="Arial (Body)"/>
            </a:endParaRPr>
          </a:p>
        </p:txBody>
      </p:sp>
      <p:pic>
        <p:nvPicPr>
          <p:cNvPr id="3" name="Picture 2">
            <a:extLst>
              <a:ext uri="{FF2B5EF4-FFF2-40B4-BE49-F238E27FC236}">
                <a16:creationId xmlns:a16="http://schemas.microsoft.com/office/drawing/2014/main" id="{756A3F85-CBCF-BCFC-269D-98B8E1099C6E}"/>
              </a:ext>
            </a:extLst>
          </p:cNvPr>
          <p:cNvPicPr>
            <a:picLocks noChangeAspect="1"/>
          </p:cNvPicPr>
          <p:nvPr/>
        </p:nvPicPr>
        <p:blipFill>
          <a:blip r:embed="rId3"/>
          <a:stretch>
            <a:fillRect/>
          </a:stretch>
        </p:blipFill>
        <p:spPr>
          <a:xfrm>
            <a:off x="3741714" y="2680222"/>
            <a:ext cx="4708571" cy="2440418"/>
          </a:xfrm>
          <a:prstGeom prst="rect">
            <a:avLst/>
          </a:prstGeom>
        </p:spPr>
      </p:pic>
    </p:spTree>
    <p:extLst>
      <p:ext uri="{BB962C8B-B14F-4D97-AF65-F5344CB8AC3E}">
        <p14:creationId xmlns:p14="http://schemas.microsoft.com/office/powerpoint/2010/main" val="91118168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1918E0-80BA-D5F2-A48B-A73336C85BB0}"/>
              </a:ext>
            </a:extLst>
          </p:cNvPr>
          <p:cNvSpPr>
            <a:spLocks noGrp="1"/>
          </p:cNvSpPr>
          <p:nvPr>
            <p:ph type="body" sz="quarter" idx="10"/>
          </p:nvPr>
        </p:nvSpPr>
        <p:spPr>
          <a:xfrm>
            <a:off x="187286" y="175012"/>
            <a:ext cx="11464887" cy="898623"/>
          </a:xfrm>
        </p:spPr>
        <p:txBody>
          <a:bodyPr/>
          <a:lstStyle/>
          <a:p>
            <a:r>
              <a:rPr lang="en-GB" dirty="0"/>
              <a:t>Data Strategy…where do I start?</a:t>
            </a:r>
          </a:p>
        </p:txBody>
      </p:sp>
      <p:sp>
        <p:nvSpPr>
          <p:cNvPr id="7" name="Rectangle 6">
            <a:extLst>
              <a:ext uri="{FF2B5EF4-FFF2-40B4-BE49-F238E27FC236}">
                <a16:creationId xmlns:a16="http://schemas.microsoft.com/office/drawing/2014/main" id="{5B85CB37-CF7C-F50E-785C-BCBFC8BABFCA}"/>
              </a:ext>
            </a:extLst>
          </p:cNvPr>
          <p:cNvSpPr/>
          <p:nvPr/>
        </p:nvSpPr>
        <p:spPr>
          <a:xfrm>
            <a:off x="4058444" y="885617"/>
            <a:ext cx="3422592" cy="990277"/>
          </a:xfrm>
          <a:prstGeom prst="rect">
            <a:avLst/>
          </a:prstGeom>
          <a:solidFill>
            <a:srgbClr val="FAE1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300" dirty="0">
                <a:solidFill>
                  <a:schemeClr val="bg1">
                    <a:lumMod val="50000"/>
                  </a:schemeClr>
                </a:solidFill>
              </a:rPr>
              <a:t>Expectations to achieve Business Goals</a:t>
            </a:r>
            <a:endParaRPr lang="en-GB" sz="2300" dirty="0">
              <a:solidFill>
                <a:schemeClr val="bg1">
                  <a:lumMod val="50000"/>
                </a:schemeClr>
              </a:solidFill>
            </a:endParaRPr>
          </a:p>
        </p:txBody>
      </p:sp>
      <p:sp>
        <p:nvSpPr>
          <p:cNvPr id="9" name="Rectangle 8">
            <a:extLst>
              <a:ext uri="{FF2B5EF4-FFF2-40B4-BE49-F238E27FC236}">
                <a16:creationId xmlns:a16="http://schemas.microsoft.com/office/drawing/2014/main" id="{7E810331-FDD3-70E5-FC14-48A1EB884F90}"/>
              </a:ext>
            </a:extLst>
          </p:cNvPr>
          <p:cNvSpPr/>
          <p:nvPr/>
        </p:nvSpPr>
        <p:spPr>
          <a:xfrm>
            <a:off x="4058444" y="2198432"/>
            <a:ext cx="1304620" cy="456681"/>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HR</a:t>
            </a:r>
            <a:endParaRPr lang="en-GB" dirty="0">
              <a:solidFill>
                <a:schemeClr val="bg1">
                  <a:lumMod val="50000"/>
                </a:schemeClr>
              </a:solidFill>
            </a:endParaRPr>
          </a:p>
        </p:txBody>
      </p:sp>
      <p:sp>
        <p:nvSpPr>
          <p:cNvPr id="12" name="Rectangle 11">
            <a:extLst>
              <a:ext uri="{FF2B5EF4-FFF2-40B4-BE49-F238E27FC236}">
                <a16:creationId xmlns:a16="http://schemas.microsoft.com/office/drawing/2014/main" id="{73BB4AF1-5924-1ECA-3EC3-5B0A5DAF1621}"/>
              </a:ext>
            </a:extLst>
          </p:cNvPr>
          <p:cNvSpPr/>
          <p:nvPr/>
        </p:nvSpPr>
        <p:spPr>
          <a:xfrm>
            <a:off x="6176416" y="2181349"/>
            <a:ext cx="1304620" cy="473765"/>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Finance</a:t>
            </a:r>
            <a:endParaRPr lang="en-GB" dirty="0">
              <a:solidFill>
                <a:schemeClr val="bg1">
                  <a:lumMod val="50000"/>
                </a:schemeClr>
              </a:solidFill>
            </a:endParaRPr>
          </a:p>
        </p:txBody>
      </p:sp>
      <p:cxnSp>
        <p:nvCxnSpPr>
          <p:cNvPr id="14" name="Straight Arrow Connector 13">
            <a:extLst>
              <a:ext uri="{FF2B5EF4-FFF2-40B4-BE49-F238E27FC236}">
                <a16:creationId xmlns:a16="http://schemas.microsoft.com/office/drawing/2014/main" id="{1DCD4F79-CC85-577B-3E51-F774AD9C1EF9}"/>
              </a:ext>
            </a:extLst>
          </p:cNvPr>
          <p:cNvCxnSpPr>
            <a:cxnSpLocks/>
            <a:stCxn id="7" idx="2"/>
            <a:endCxn id="9" idx="0"/>
          </p:cNvCxnSpPr>
          <p:nvPr/>
        </p:nvCxnSpPr>
        <p:spPr>
          <a:xfrm flipH="1">
            <a:off x="4710754" y="1875894"/>
            <a:ext cx="1058986" cy="322538"/>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D5BF2F2-83BC-D964-65FF-48E64C5AC0BF}"/>
              </a:ext>
            </a:extLst>
          </p:cNvPr>
          <p:cNvCxnSpPr>
            <a:cxnSpLocks/>
            <a:stCxn id="7" idx="2"/>
            <a:endCxn id="12" idx="0"/>
          </p:cNvCxnSpPr>
          <p:nvPr/>
        </p:nvCxnSpPr>
        <p:spPr>
          <a:xfrm>
            <a:off x="5769740" y="1875894"/>
            <a:ext cx="1058986" cy="305455"/>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742408D2-FB70-4BE6-C962-0D22B91A9E34}"/>
              </a:ext>
            </a:extLst>
          </p:cNvPr>
          <p:cNvCxnSpPr>
            <a:cxnSpLocks/>
            <a:stCxn id="9" idx="2"/>
          </p:cNvCxnSpPr>
          <p:nvPr/>
        </p:nvCxnSpPr>
        <p:spPr>
          <a:xfrm>
            <a:off x="4710754" y="2655113"/>
            <a:ext cx="0" cy="522588"/>
          </a:xfrm>
          <a:prstGeom prst="straightConnector1">
            <a:avLst/>
          </a:prstGeom>
          <a:ln w="381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72AA86B9-F391-4C72-77D7-5EEBBC89068A}"/>
              </a:ext>
            </a:extLst>
          </p:cNvPr>
          <p:cNvCxnSpPr>
            <a:cxnSpLocks/>
            <a:stCxn id="12" idx="2"/>
          </p:cNvCxnSpPr>
          <p:nvPr/>
        </p:nvCxnSpPr>
        <p:spPr>
          <a:xfrm>
            <a:off x="6828726" y="2655114"/>
            <a:ext cx="0" cy="507724"/>
          </a:xfrm>
          <a:prstGeom prst="straightConnector1">
            <a:avLst/>
          </a:prstGeom>
          <a:ln w="38100">
            <a:solidFill>
              <a:srgbClr val="CA06B7"/>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4C96E967-FD47-E9A7-B862-CDC238B0362A}"/>
              </a:ext>
            </a:extLst>
          </p:cNvPr>
          <p:cNvSpPr/>
          <p:nvPr/>
        </p:nvSpPr>
        <p:spPr>
          <a:xfrm>
            <a:off x="4058444" y="3177701"/>
            <a:ext cx="3422583" cy="468930"/>
          </a:xfrm>
          <a:prstGeom prst="rect">
            <a:avLst/>
          </a:prstGeom>
          <a:solidFill>
            <a:srgbClr val="FAE1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lumMod val="50000"/>
                  </a:schemeClr>
                </a:solidFill>
              </a:rPr>
              <a:t>Improve Employee Retention</a:t>
            </a:r>
          </a:p>
        </p:txBody>
      </p:sp>
      <p:sp>
        <p:nvSpPr>
          <p:cNvPr id="24" name="Rectangle 23">
            <a:extLst>
              <a:ext uri="{FF2B5EF4-FFF2-40B4-BE49-F238E27FC236}">
                <a16:creationId xmlns:a16="http://schemas.microsoft.com/office/drawing/2014/main" id="{E0F5D36F-3501-FB71-2CD1-640D27BFE31E}"/>
              </a:ext>
            </a:extLst>
          </p:cNvPr>
          <p:cNvSpPr/>
          <p:nvPr/>
        </p:nvSpPr>
        <p:spPr>
          <a:xfrm>
            <a:off x="1059333" y="3859486"/>
            <a:ext cx="4303731" cy="964406"/>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Conduct focus groups, send out surveys to identify changes that could encourage employee retention</a:t>
            </a:r>
            <a:endParaRPr lang="en-GB" dirty="0">
              <a:solidFill>
                <a:schemeClr val="bg1">
                  <a:lumMod val="50000"/>
                </a:schemeClr>
              </a:solidFill>
            </a:endParaRPr>
          </a:p>
        </p:txBody>
      </p:sp>
      <p:cxnSp>
        <p:nvCxnSpPr>
          <p:cNvPr id="25" name="Straight Arrow Connector 24">
            <a:extLst>
              <a:ext uri="{FF2B5EF4-FFF2-40B4-BE49-F238E27FC236}">
                <a16:creationId xmlns:a16="http://schemas.microsoft.com/office/drawing/2014/main" id="{51673B33-3286-9315-F834-410C2E385799}"/>
              </a:ext>
            </a:extLst>
          </p:cNvPr>
          <p:cNvCxnSpPr>
            <a:cxnSpLocks/>
            <a:stCxn id="22" idx="1"/>
            <a:endCxn id="24" idx="0"/>
          </p:cNvCxnSpPr>
          <p:nvPr/>
        </p:nvCxnSpPr>
        <p:spPr>
          <a:xfrm flipH="1">
            <a:off x="3211199" y="3412166"/>
            <a:ext cx="847245" cy="447320"/>
          </a:xfrm>
          <a:prstGeom prst="straightConnector1">
            <a:avLst/>
          </a:prstGeom>
          <a:ln w="381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91400385-EDFD-92A9-9E27-A008F6D135AE}"/>
              </a:ext>
            </a:extLst>
          </p:cNvPr>
          <p:cNvSpPr/>
          <p:nvPr/>
        </p:nvSpPr>
        <p:spPr>
          <a:xfrm>
            <a:off x="6176415" y="3859486"/>
            <a:ext cx="4303731" cy="964406"/>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Based upon the feedback from the focus groups and surveys identify a budget for benefit changes </a:t>
            </a:r>
            <a:endParaRPr lang="en-GB" dirty="0">
              <a:solidFill>
                <a:schemeClr val="bg1">
                  <a:lumMod val="50000"/>
                </a:schemeClr>
              </a:solidFill>
            </a:endParaRPr>
          </a:p>
        </p:txBody>
      </p:sp>
      <p:sp>
        <p:nvSpPr>
          <p:cNvPr id="39" name="Rectangle 38">
            <a:extLst>
              <a:ext uri="{FF2B5EF4-FFF2-40B4-BE49-F238E27FC236}">
                <a16:creationId xmlns:a16="http://schemas.microsoft.com/office/drawing/2014/main" id="{9B4E693E-BB18-07A3-2B9C-238BC44B3B13}"/>
              </a:ext>
            </a:extLst>
          </p:cNvPr>
          <p:cNvSpPr/>
          <p:nvPr/>
        </p:nvSpPr>
        <p:spPr>
          <a:xfrm>
            <a:off x="1059333" y="4913555"/>
            <a:ext cx="4303731" cy="964406"/>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Use predictive analytics to identify employees most at risk of leaving and explore ways to retain them</a:t>
            </a:r>
            <a:endParaRPr lang="en-GB" dirty="0">
              <a:solidFill>
                <a:schemeClr val="bg1">
                  <a:lumMod val="50000"/>
                </a:schemeClr>
              </a:solidFill>
            </a:endParaRPr>
          </a:p>
        </p:txBody>
      </p:sp>
      <p:cxnSp>
        <p:nvCxnSpPr>
          <p:cNvPr id="41" name="Straight Arrow Connector 40">
            <a:extLst>
              <a:ext uri="{FF2B5EF4-FFF2-40B4-BE49-F238E27FC236}">
                <a16:creationId xmlns:a16="http://schemas.microsoft.com/office/drawing/2014/main" id="{AE3958B9-CE73-C6C2-22F3-F56D8A2701C1}"/>
              </a:ext>
            </a:extLst>
          </p:cNvPr>
          <p:cNvCxnSpPr>
            <a:cxnSpLocks/>
            <a:stCxn id="22" idx="3"/>
            <a:endCxn id="33" idx="0"/>
          </p:cNvCxnSpPr>
          <p:nvPr/>
        </p:nvCxnSpPr>
        <p:spPr>
          <a:xfrm>
            <a:off x="7481027" y="3412166"/>
            <a:ext cx="847254" cy="447320"/>
          </a:xfrm>
          <a:prstGeom prst="straightConnector1">
            <a:avLst/>
          </a:prstGeom>
          <a:ln w="38100">
            <a:solidFill>
              <a:srgbClr val="CA06B7"/>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7C22BE0C-6789-AABD-1F97-91454B530146}"/>
              </a:ext>
            </a:extLst>
          </p:cNvPr>
          <p:cNvSpPr/>
          <p:nvPr/>
        </p:nvSpPr>
        <p:spPr>
          <a:xfrm>
            <a:off x="6176415" y="4913555"/>
            <a:ext cx="4303731" cy="964406"/>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Based on predictive analytics identify those most at risk and identify monetary opportunities to help them stay</a:t>
            </a:r>
            <a:endParaRPr lang="en-GB" dirty="0">
              <a:solidFill>
                <a:schemeClr val="bg1">
                  <a:lumMod val="50000"/>
                </a:schemeClr>
              </a:solidFill>
            </a:endParaRPr>
          </a:p>
        </p:txBody>
      </p:sp>
      <p:sp>
        <p:nvSpPr>
          <p:cNvPr id="3" name="Rectangle 2">
            <a:extLst>
              <a:ext uri="{FF2B5EF4-FFF2-40B4-BE49-F238E27FC236}">
                <a16:creationId xmlns:a16="http://schemas.microsoft.com/office/drawing/2014/main" id="{E271487C-01FA-7AD2-617F-6566E1BCA5AE}"/>
              </a:ext>
            </a:extLst>
          </p:cNvPr>
          <p:cNvSpPr/>
          <p:nvPr/>
        </p:nvSpPr>
        <p:spPr>
          <a:xfrm>
            <a:off x="9827836" y="2194571"/>
            <a:ext cx="1304620" cy="473765"/>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Payroll</a:t>
            </a:r>
            <a:endParaRPr lang="en-GB" dirty="0">
              <a:solidFill>
                <a:schemeClr val="bg1">
                  <a:lumMod val="50000"/>
                </a:schemeClr>
              </a:solidFill>
            </a:endParaRPr>
          </a:p>
        </p:txBody>
      </p:sp>
      <p:cxnSp>
        <p:nvCxnSpPr>
          <p:cNvPr id="4" name="Straight Arrow Connector 3">
            <a:extLst>
              <a:ext uri="{FF2B5EF4-FFF2-40B4-BE49-F238E27FC236}">
                <a16:creationId xmlns:a16="http://schemas.microsoft.com/office/drawing/2014/main" id="{C55BC4C4-442E-232B-34D0-0BFA366537A0}"/>
              </a:ext>
            </a:extLst>
          </p:cNvPr>
          <p:cNvCxnSpPr>
            <a:cxnSpLocks/>
            <a:stCxn id="3" idx="2"/>
            <a:endCxn id="33" idx="0"/>
          </p:cNvCxnSpPr>
          <p:nvPr/>
        </p:nvCxnSpPr>
        <p:spPr>
          <a:xfrm flipH="1">
            <a:off x="8328281" y="2668336"/>
            <a:ext cx="2151865" cy="1191150"/>
          </a:xfrm>
          <a:prstGeom prst="straightConnector1">
            <a:avLst/>
          </a:prstGeom>
          <a:ln w="381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EC919531-83EC-DD69-78E7-C8FC0FE9EFAD}"/>
              </a:ext>
            </a:extLst>
          </p:cNvPr>
          <p:cNvCxnSpPr>
            <a:cxnSpLocks/>
            <a:stCxn id="3" idx="1"/>
            <a:endCxn id="12" idx="3"/>
          </p:cNvCxnSpPr>
          <p:nvPr/>
        </p:nvCxnSpPr>
        <p:spPr>
          <a:xfrm flipH="1" flipV="1">
            <a:off x="7481036" y="2418232"/>
            <a:ext cx="2346800" cy="13222"/>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9B31FECF-2BAF-1B2F-8AAC-99C0C42FD712}"/>
              </a:ext>
            </a:extLst>
          </p:cNvPr>
          <p:cNvSpPr/>
          <p:nvPr/>
        </p:nvSpPr>
        <p:spPr>
          <a:xfrm>
            <a:off x="407024" y="2201183"/>
            <a:ext cx="1304620" cy="447320"/>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Payroll</a:t>
            </a:r>
            <a:endParaRPr lang="en-GB" dirty="0">
              <a:solidFill>
                <a:schemeClr val="bg1">
                  <a:lumMod val="50000"/>
                </a:schemeClr>
              </a:solidFill>
            </a:endParaRPr>
          </a:p>
        </p:txBody>
      </p:sp>
      <p:cxnSp>
        <p:nvCxnSpPr>
          <p:cNvPr id="31" name="Straight Arrow Connector 30">
            <a:extLst>
              <a:ext uri="{FF2B5EF4-FFF2-40B4-BE49-F238E27FC236}">
                <a16:creationId xmlns:a16="http://schemas.microsoft.com/office/drawing/2014/main" id="{69DCE50A-51BB-4C7A-800A-483A5930312A}"/>
              </a:ext>
            </a:extLst>
          </p:cNvPr>
          <p:cNvCxnSpPr>
            <a:cxnSpLocks/>
            <a:stCxn id="9" idx="1"/>
            <a:endCxn id="16" idx="3"/>
          </p:cNvCxnSpPr>
          <p:nvPr/>
        </p:nvCxnSpPr>
        <p:spPr>
          <a:xfrm flipH="1" flipV="1">
            <a:off x="1711644" y="2424843"/>
            <a:ext cx="2346800" cy="1930"/>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6AEEE50F-BEAC-4F64-ABB1-B35AAC619C7F}"/>
              </a:ext>
            </a:extLst>
          </p:cNvPr>
          <p:cNvCxnSpPr>
            <a:cxnSpLocks/>
            <a:stCxn id="16" idx="2"/>
            <a:endCxn id="24" idx="0"/>
          </p:cNvCxnSpPr>
          <p:nvPr/>
        </p:nvCxnSpPr>
        <p:spPr>
          <a:xfrm>
            <a:off x="1059334" y="2648503"/>
            <a:ext cx="2151865" cy="1210983"/>
          </a:xfrm>
          <a:prstGeom prst="straightConnector1">
            <a:avLst/>
          </a:prstGeom>
          <a:ln w="381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1210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Straight Arrow Connector 26">
            <a:extLst>
              <a:ext uri="{FF2B5EF4-FFF2-40B4-BE49-F238E27FC236}">
                <a16:creationId xmlns:a16="http://schemas.microsoft.com/office/drawing/2014/main" id="{5C8C6F6D-16C8-217A-6E58-9A50C66593C1}"/>
              </a:ext>
            </a:extLst>
          </p:cNvPr>
          <p:cNvCxnSpPr>
            <a:cxnSpLocks/>
            <a:stCxn id="9" idx="2"/>
            <a:endCxn id="23" idx="0"/>
          </p:cNvCxnSpPr>
          <p:nvPr/>
        </p:nvCxnSpPr>
        <p:spPr>
          <a:xfrm>
            <a:off x="4600585" y="2327730"/>
            <a:ext cx="1058981" cy="2623794"/>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F5F2E02-58F8-BB3F-E812-E7FE4FD1962E}"/>
              </a:ext>
            </a:extLst>
          </p:cNvPr>
          <p:cNvCxnSpPr>
            <a:cxnSpLocks/>
            <a:stCxn id="12" idx="2"/>
            <a:endCxn id="23" idx="0"/>
          </p:cNvCxnSpPr>
          <p:nvPr/>
        </p:nvCxnSpPr>
        <p:spPr>
          <a:xfrm flipH="1">
            <a:off x="5659566" y="2327731"/>
            <a:ext cx="1058991" cy="2623793"/>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 name="Text Placeholder 1">
            <a:extLst>
              <a:ext uri="{FF2B5EF4-FFF2-40B4-BE49-F238E27FC236}">
                <a16:creationId xmlns:a16="http://schemas.microsoft.com/office/drawing/2014/main" id="{A31918E0-80BA-D5F2-A48B-A73336C85BB0}"/>
              </a:ext>
            </a:extLst>
          </p:cNvPr>
          <p:cNvSpPr>
            <a:spLocks noGrp="1"/>
          </p:cNvSpPr>
          <p:nvPr>
            <p:ph type="body" sz="quarter" idx="10"/>
          </p:nvPr>
        </p:nvSpPr>
        <p:spPr>
          <a:xfrm>
            <a:off x="187286" y="175012"/>
            <a:ext cx="11464887" cy="898623"/>
          </a:xfrm>
        </p:spPr>
        <p:txBody>
          <a:bodyPr/>
          <a:lstStyle/>
          <a:p>
            <a:r>
              <a:rPr lang="en-GB" dirty="0"/>
              <a:t>Data Strategy…where do I start?</a:t>
            </a:r>
          </a:p>
        </p:txBody>
      </p:sp>
      <p:sp>
        <p:nvSpPr>
          <p:cNvPr id="9" name="Rectangle 8">
            <a:extLst>
              <a:ext uri="{FF2B5EF4-FFF2-40B4-BE49-F238E27FC236}">
                <a16:creationId xmlns:a16="http://schemas.microsoft.com/office/drawing/2014/main" id="{7E810331-FDD3-70E5-FC14-48A1EB884F90}"/>
              </a:ext>
            </a:extLst>
          </p:cNvPr>
          <p:cNvSpPr/>
          <p:nvPr/>
        </p:nvSpPr>
        <p:spPr>
          <a:xfrm>
            <a:off x="3948275" y="1871049"/>
            <a:ext cx="1304620" cy="456681"/>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HR</a:t>
            </a:r>
            <a:endParaRPr lang="en-GB" dirty="0">
              <a:solidFill>
                <a:schemeClr val="bg1">
                  <a:lumMod val="50000"/>
                </a:schemeClr>
              </a:solidFill>
            </a:endParaRPr>
          </a:p>
        </p:txBody>
      </p:sp>
      <p:sp>
        <p:nvSpPr>
          <p:cNvPr id="12" name="Rectangle 11">
            <a:extLst>
              <a:ext uri="{FF2B5EF4-FFF2-40B4-BE49-F238E27FC236}">
                <a16:creationId xmlns:a16="http://schemas.microsoft.com/office/drawing/2014/main" id="{73BB4AF1-5924-1ECA-3EC3-5B0A5DAF1621}"/>
              </a:ext>
            </a:extLst>
          </p:cNvPr>
          <p:cNvSpPr/>
          <p:nvPr/>
        </p:nvSpPr>
        <p:spPr>
          <a:xfrm>
            <a:off x="6066247" y="1853966"/>
            <a:ext cx="1304620" cy="473765"/>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Finance</a:t>
            </a:r>
            <a:endParaRPr lang="en-GB" dirty="0">
              <a:solidFill>
                <a:schemeClr val="bg1">
                  <a:lumMod val="50000"/>
                </a:schemeClr>
              </a:solidFill>
            </a:endParaRPr>
          </a:p>
        </p:txBody>
      </p:sp>
      <p:cxnSp>
        <p:nvCxnSpPr>
          <p:cNvPr id="14" name="Straight Arrow Connector 13">
            <a:extLst>
              <a:ext uri="{FF2B5EF4-FFF2-40B4-BE49-F238E27FC236}">
                <a16:creationId xmlns:a16="http://schemas.microsoft.com/office/drawing/2014/main" id="{1DCD4F79-CC85-577B-3E51-F774AD9C1EF9}"/>
              </a:ext>
            </a:extLst>
          </p:cNvPr>
          <p:cNvCxnSpPr>
            <a:cxnSpLocks/>
            <a:stCxn id="22" idx="2"/>
            <a:endCxn id="9" idx="0"/>
          </p:cNvCxnSpPr>
          <p:nvPr/>
        </p:nvCxnSpPr>
        <p:spPr>
          <a:xfrm flipH="1">
            <a:off x="4600585" y="1441356"/>
            <a:ext cx="1058982" cy="429693"/>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D5BF2F2-83BC-D964-65FF-48E64C5AC0BF}"/>
              </a:ext>
            </a:extLst>
          </p:cNvPr>
          <p:cNvCxnSpPr>
            <a:cxnSpLocks/>
            <a:stCxn id="22" idx="2"/>
            <a:endCxn id="12" idx="0"/>
          </p:cNvCxnSpPr>
          <p:nvPr/>
        </p:nvCxnSpPr>
        <p:spPr>
          <a:xfrm>
            <a:off x="5659567" y="1441356"/>
            <a:ext cx="1058990" cy="412610"/>
          </a:xfrm>
          <a:prstGeom prst="straightConnector1">
            <a:avLst/>
          </a:prstGeom>
          <a:ln w="38100">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4C96E967-FD47-E9A7-B862-CDC238B0362A}"/>
              </a:ext>
            </a:extLst>
          </p:cNvPr>
          <p:cNvSpPr/>
          <p:nvPr/>
        </p:nvSpPr>
        <p:spPr>
          <a:xfrm>
            <a:off x="3948275" y="972426"/>
            <a:ext cx="3422583" cy="468930"/>
          </a:xfrm>
          <a:prstGeom prst="rect">
            <a:avLst/>
          </a:prstGeom>
          <a:solidFill>
            <a:srgbClr val="FAE1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lumMod val="50000"/>
                  </a:schemeClr>
                </a:solidFill>
              </a:rPr>
              <a:t>Improve Employee Retention</a:t>
            </a:r>
          </a:p>
        </p:txBody>
      </p:sp>
      <p:sp>
        <p:nvSpPr>
          <p:cNvPr id="24" name="Rectangle 23">
            <a:extLst>
              <a:ext uri="{FF2B5EF4-FFF2-40B4-BE49-F238E27FC236}">
                <a16:creationId xmlns:a16="http://schemas.microsoft.com/office/drawing/2014/main" id="{E0F5D36F-3501-FB71-2CD1-640D27BFE31E}"/>
              </a:ext>
            </a:extLst>
          </p:cNvPr>
          <p:cNvSpPr/>
          <p:nvPr/>
        </p:nvSpPr>
        <p:spPr>
          <a:xfrm>
            <a:off x="949164" y="2628125"/>
            <a:ext cx="4303731" cy="964406"/>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Conduct focus groups, send out surveys to identify benefit changes that could encourage employee retention</a:t>
            </a:r>
            <a:endParaRPr lang="en-GB" dirty="0">
              <a:solidFill>
                <a:schemeClr val="bg1">
                  <a:lumMod val="50000"/>
                </a:schemeClr>
              </a:solidFill>
            </a:endParaRPr>
          </a:p>
        </p:txBody>
      </p:sp>
      <p:cxnSp>
        <p:nvCxnSpPr>
          <p:cNvPr id="25" name="Straight Arrow Connector 24">
            <a:extLst>
              <a:ext uri="{FF2B5EF4-FFF2-40B4-BE49-F238E27FC236}">
                <a16:creationId xmlns:a16="http://schemas.microsoft.com/office/drawing/2014/main" id="{51673B33-3286-9315-F834-410C2E385799}"/>
              </a:ext>
            </a:extLst>
          </p:cNvPr>
          <p:cNvCxnSpPr>
            <a:cxnSpLocks/>
            <a:stCxn id="9" idx="1"/>
            <a:endCxn id="24" idx="0"/>
          </p:cNvCxnSpPr>
          <p:nvPr/>
        </p:nvCxnSpPr>
        <p:spPr>
          <a:xfrm flipH="1">
            <a:off x="3101030" y="2099390"/>
            <a:ext cx="847245" cy="528735"/>
          </a:xfrm>
          <a:prstGeom prst="straightConnector1">
            <a:avLst/>
          </a:prstGeom>
          <a:ln w="381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33" name="Rectangle 32">
            <a:extLst>
              <a:ext uri="{FF2B5EF4-FFF2-40B4-BE49-F238E27FC236}">
                <a16:creationId xmlns:a16="http://schemas.microsoft.com/office/drawing/2014/main" id="{91400385-EDFD-92A9-9E27-A008F6D135AE}"/>
              </a:ext>
            </a:extLst>
          </p:cNvPr>
          <p:cNvSpPr/>
          <p:nvPr/>
        </p:nvSpPr>
        <p:spPr>
          <a:xfrm>
            <a:off x="6066246" y="2628125"/>
            <a:ext cx="4303731" cy="964406"/>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Based upon the feedback from the focus groups and surveys identify a budget for benefit changes </a:t>
            </a:r>
            <a:endParaRPr lang="en-GB" dirty="0">
              <a:solidFill>
                <a:schemeClr val="bg1">
                  <a:lumMod val="50000"/>
                </a:schemeClr>
              </a:solidFill>
            </a:endParaRPr>
          </a:p>
        </p:txBody>
      </p:sp>
      <p:sp>
        <p:nvSpPr>
          <p:cNvPr id="39" name="Rectangle 38">
            <a:extLst>
              <a:ext uri="{FF2B5EF4-FFF2-40B4-BE49-F238E27FC236}">
                <a16:creationId xmlns:a16="http://schemas.microsoft.com/office/drawing/2014/main" id="{9B4E693E-BB18-07A3-2B9C-238BC44B3B13}"/>
              </a:ext>
            </a:extLst>
          </p:cNvPr>
          <p:cNvSpPr/>
          <p:nvPr/>
        </p:nvSpPr>
        <p:spPr>
          <a:xfrm>
            <a:off x="949164" y="3682194"/>
            <a:ext cx="4303731" cy="964406"/>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Use predictive analytics to identify employees most at risk of leaving and explore ways to retain them</a:t>
            </a:r>
            <a:endParaRPr lang="en-GB" dirty="0">
              <a:solidFill>
                <a:schemeClr val="bg1">
                  <a:lumMod val="50000"/>
                </a:schemeClr>
              </a:solidFill>
            </a:endParaRPr>
          </a:p>
        </p:txBody>
      </p:sp>
      <p:cxnSp>
        <p:nvCxnSpPr>
          <p:cNvPr id="41" name="Straight Arrow Connector 40">
            <a:extLst>
              <a:ext uri="{FF2B5EF4-FFF2-40B4-BE49-F238E27FC236}">
                <a16:creationId xmlns:a16="http://schemas.microsoft.com/office/drawing/2014/main" id="{AE3958B9-CE73-C6C2-22F3-F56D8A2701C1}"/>
              </a:ext>
            </a:extLst>
          </p:cNvPr>
          <p:cNvCxnSpPr>
            <a:cxnSpLocks/>
            <a:stCxn id="12" idx="3"/>
            <a:endCxn id="33" idx="0"/>
          </p:cNvCxnSpPr>
          <p:nvPr/>
        </p:nvCxnSpPr>
        <p:spPr>
          <a:xfrm>
            <a:off x="7370867" y="2090849"/>
            <a:ext cx="847245" cy="537276"/>
          </a:xfrm>
          <a:prstGeom prst="straightConnector1">
            <a:avLst/>
          </a:prstGeom>
          <a:ln w="38100">
            <a:solidFill>
              <a:srgbClr val="CA06B7"/>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7C22BE0C-6789-AABD-1F97-91454B530146}"/>
              </a:ext>
            </a:extLst>
          </p:cNvPr>
          <p:cNvSpPr/>
          <p:nvPr/>
        </p:nvSpPr>
        <p:spPr>
          <a:xfrm>
            <a:off x="6066246" y="3682194"/>
            <a:ext cx="4303731" cy="964406"/>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Based on predictive analytics identify those most at risk and identify monetary opportunities to help them stay</a:t>
            </a:r>
            <a:endParaRPr lang="en-GB" dirty="0">
              <a:solidFill>
                <a:schemeClr val="bg1">
                  <a:lumMod val="50000"/>
                </a:schemeClr>
              </a:solidFill>
            </a:endParaRPr>
          </a:p>
        </p:txBody>
      </p:sp>
      <p:sp>
        <p:nvSpPr>
          <p:cNvPr id="19" name="Rectangle 18">
            <a:extLst>
              <a:ext uri="{FF2B5EF4-FFF2-40B4-BE49-F238E27FC236}">
                <a16:creationId xmlns:a16="http://schemas.microsoft.com/office/drawing/2014/main" id="{4CD97F4E-D022-B06B-43C6-369795869193}"/>
              </a:ext>
            </a:extLst>
          </p:cNvPr>
          <p:cNvSpPr/>
          <p:nvPr/>
        </p:nvSpPr>
        <p:spPr>
          <a:xfrm>
            <a:off x="640080" y="5725683"/>
            <a:ext cx="3646032" cy="584884"/>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Develop Large Language Models and Predictive Capabilities</a:t>
            </a:r>
          </a:p>
        </p:txBody>
      </p:sp>
      <p:sp>
        <p:nvSpPr>
          <p:cNvPr id="23" name="TextBox 22">
            <a:extLst>
              <a:ext uri="{FF2B5EF4-FFF2-40B4-BE49-F238E27FC236}">
                <a16:creationId xmlns:a16="http://schemas.microsoft.com/office/drawing/2014/main" id="{FDC7FCFC-53B3-50E3-D7BB-0A95F02500AB}"/>
              </a:ext>
            </a:extLst>
          </p:cNvPr>
          <p:cNvSpPr txBox="1"/>
          <p:nvPr/>
        </p:nvSpPr>
        <p:spPr>
          <a:xfrm>
            <a:off x="4122426" y="4951524"/>
            <a:ext cx="3074280" cy="369332"/>
          </a:xfrm>
          <a:prstGeom prst="rect">
            <a:avLst/>
          </a:prstGeom>
          <a:solidFill>
            <a:srgbClr val="95D3CF"/>
          </a:solidFill>
          <a:ln>
            <a:noFill/>
          </a:ln>
        </p:spPr>
        <p:txBody>
          <a:bodyPr wrap="square" rtlCol="0">
            <a:spAutoFit/>
          </a:bodyPr>
          <a:lstStyle/>
          <a:p>
            <a:pPr algn="ctr"/>
            <a:r>
              <a:rPr lang="en-GB" dirty="0">
                <a:solidFill>
                  <a:schemeClr val="tx1">
                    <a:lumMod val="50000"/>
                    <a:lumOff val="50000"/>
                  </a:schemeClr>
                </a:solidFill>
              </a:rPr>
              <a:t>Data Strategy</a:t>
            </a:r>
          </a:p>
        </p:txBody>
      </p:sp>
      <p:sp>
        <p:nvSpPr>
          <p:cNvPr id="26" name="Rectangle 25">
            <a:extLst>
              <a:ext uri="{FF2B5EF4-FFF2-40B4-BE49-F238E27FC236}">
                <a16:creationId xmlns:a16="http://schemas.microsoft.com/office/drawing/2014/main" id="{0EC55E09-0E8F-BD26-B75E-0104E88EB047}"/>
              </a:ext>
            </a:extLst>
          </p:cNvPr>
          <p:cNvSpPr/>
          <p:nvPr/>
        </p:nvSpPr>
        <p:spPr>
          <a:xfrm>
            <a:off x="7033028" y="5725683"/>
            <a:ext cx="3513051" cy="584884"/>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Cross-Functional Teamwork, Data &amp; System Integration</a:t>
            </a:r>
          </a:p>
        </p:txBody>
      </p:sp>
      <p:cxnSp>
        <p:nvCxnSpPr>
          <p:cNvPr id="35" name="Straight Arrow Connector 34">
            <a:extLst>
              <a:ext uri="{FF2B5EF4-FFF2-40B4-BE49-F238E27FC236}">
                <a16:creationId xmlns:a16="http://schemas.microsoft.com/office/drawing/2014/main" id="{985CA121-1EDC-FEDF-4071-CFEF9CB1C531}"/>
              </a:ext>
            </a:extLst>
          </p:cNvPr>
          <p:cNvCxnSpPr>
            <a:cxnSpLocks/>
            <a:stCxn id="23" idx="2"/>
            <a:endCxn id="19" idx="3"/>
          </p:cNvCxnSpPr>
          <p:nvPr/>
        </p:nvCxnSpPr>
        <p:spPr>
          <a:xfrm flipH="1">
            <a:off x="4286112" y="5320856"/>
            <a:ext cx="1373454" cy="697269"/>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95D9F8B4-3970-75CD-B32B-16BB9650A914}"/>
              </a:ext>
            </a:extLst>
          </p:cNvPr>
          <p:cNvCxnSpPr>
            <a:cxnSpLocks/>
            <a:stCxn id="23" idx="2"/>
            <a:endCxn id="26" idx="1"/>
          </p:cNvCxnSpPr>
          <p:nvPr/>
        </p:nvCxnSpPr>
        <p:spPr>
          <a:xfrm>
            <a:off x="5659566" y="5320856"/>
            <a:ext cx="1373462" cy="697269"/>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48343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Straight Arrow Connector 26">
            <a:extLst>
              <a:ext uri="{FF2B5EF4-FFF2-40B4-BE49-F238E27FC236}">
                <a16:creationId xmlns:a16="http://schemas.microsoft.com/office/drawing/2014/main" id="{5C8C6F6D-16C8-217A-6E58-9A50C66593C1}"/>
              </a:ext>
            </a:extLst>
          </p:cNvPr>
          <p:cNvCxnSpPr>
            <a:cxnSpLocks/>
            <a:stCxn id="22" idx="2"/>
            <a:endCxn id="23" idx="0"/>
          </p:cNvCxnSpPr>
          <p:nvPr/>
        </p:nvCxnSpPr>
        <p:spPr>
          <a:xfrm flipH="1">
            <a:off x="6095999" y="1308100"/>
            <a:ext cx="1" cy="245027"/>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 name="Text Placeholder 1">
            <a:extLst>
              <a:ext uri="{FF2B5EF4-FFF2-40B4-BE49-F238E27FC236}">
                <a16:creationId xmlns:a16="http://schemas.microsoft.com/office/drawing/2014/main" id="{A31918E0-80BA-D5F2-A48B-A73336C85BB0}"/>
              </a:ext>
            </a:extLst>
          </p:cNvPr>
          <p:cNvSpPr>
            <a:spLocks noGrp="1"/>
          </p:cNvSpPr>
          <p:nvPr>
            <p:ph type="body" sz="quarter" idx="10"/>
          </p:nvPr>
        </p:nvSpPr>
        <p:spPr>
          <a:xfrm>
            <a:off x="187286" y="175012"/>
            <a:ext cx="11464887" cy="898623"/>
          </a:xfrm>
        </p:spPr>
        <p:txBody>
          <a:bodyPr/>
          <a:lstStyle/>
          <a:p>
            <a:r>
              <a:rPr lang="en-GB" dirty="0"/>
              <a:t>Data Strategy…where do I start?</a:t>
            </a:r>
          </a:p>
        </p:txBody>
      </p:sp>
      <p:sp>
        <p:nvSpPr>
          <p:cNvPr id="22" name="Rectangle 21">
            <a:extLst>
              <a:ext uri="{FF2B5EF4-FFF2-40B4-BE49-F238E27FC236}">
                <a16:creationId xmlns:a16="http://schemas.microsoft.com/office/drawing/2014/main" id="{4C96E967-FD47-E9A7-B862-CDC238B0362A}"/>
              </a:ext>
            </a:extLst>
          </p:cNvPr>
          <p:cNvSpPr/>
          <p:nvPr/>
        </p:nvSpPr>
        <p:spPr>
          <a:xfrm>
            <a:off x="4384708" y="839170"/>
            <a:ext cx="3422583" cy="468930"/>
          </a:xfrm>
          <a:prstGeom prst="rect">
            <a:avLst/>
          </a:prstGeom>
          <a:solidFill>
            <a:srgbClr val="FAE1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lumMod val="50000"/>
                  </a:schemeClr>
                </a:solidFill>
              </a:rPr>
              <a:t>Improve Employee Retention</a:t>
            </a:r>
          </a:p>
        </p:txBody>
      </p:sp>
      <p:sp>
        <p:nvSpPr>
          <p:cNvPr id="19" name="Rectangle 18">
            <a:extLst>
              <a:ext uri="{FF2B5EF4-FFF2-40B4-BE49-F238E27FC236}">
                <a16:creationId xmlns:a16="http://schemas.microsoft.com/office/drawing/2014/main" id="{4CD97F4E-D022-B06B-43C6-369795869193}"/>
              </a:ext>
            </a:extLst>
          </p:cNvPr>
          <p:cNvSpPr/>
          <p:nvPr/>
        </p:nvSpPr>
        <p:spPr>
          <a:xfrm>
            <a:off x="931747" y="2149251"/>
            <a:ext cx="3627112" cy="584884"/>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Develop Large Language Models and Predictive Capabilities</a:t>
            </a:r>
          </a:p>
        </p:txBody>
      </p:sp>
      <p:sp>
        <p:nvSpPr>
          <p:cNvPr id="23" name="TextBox 22">
            <a:extLst>
              <a:ext uri="{FF2B5EF4-FFF2-40B4-BE49-F238E27FC236}">
                <a16:creationId xmlns:a16="http://schemas.microsoft.com/office/drawing/2014/main" id="{FDC7FCFC-53B3-50E3-D7BB-0A95F02500AB}"/>
              </a:ext>
            </a:extLst>
          </p:cNvPr>
          <p:cNvSpPr txBox="1"/>
          <p:nvPr/>
        </p:nvSpPr>
        <p:spPr>
          <a:xfrm>
            <a:off x="4558859" y="1553127"/>
            <a:ext cx="3074280" cy="369332"/>
          </a:xfrm>
          <a:prstGeom prst="rect">
            <a:avLst/>
          </a:prstGeom>
          <a:solidFill>
            <a:srgbClr val="95D3CF"/>
          </a:solidFill>
          <a:ln>
            <a:noFill/>
          </a:ln>
        </p:spPr>
        <p:txBody>
          <a:bodyPr wrap="square" rtlCol="0">
            <a:spAutoFit/>
          </a:bodyPr>
          <a:lstStyle/>
          <a:p>
            <a:pPr algn="ctr"/>
            <a:r>
              <a:rPr lang="en-GB" dirty="0">
                <a:solidFill>
                  <a:schemeClr val="tx1">
                    <a:lumMod val="50000"/>
                    <a:lumOff val="50000"/>
                  </a:schemeClr>
                </a:solidFill>
              </a:rPr>
              <a:t>Data Strategy</a:t>
            </a:r>
          </a:p>
        </p:txBody>
      </p:sp>
      <p:sp>
        <p:nvSpPr>
          <p:cNvPr id="26" name="Rectangle 25">
            <a:extLst>
              <a:ext uri="{FF2B5EF4-FFF2-40B4-BE49-F238E27FC236}">
                <a16:creationId xmlns:a16="http://schemas.microsoft.com/office/drawing/2014/main" id="{0EC55E09-0E8F-BD26-B75E-0104E88EB047}"/>
              </a:ext>
            </a:extLst>
          </p:cNvPr>
          <p:cNvSpPr/>
          <p:nvPr/>
        </p:nvSpPr>
        <p:spPr>
          <a:xfrm>
            <a:off x="7631996" y="2122910"/>
            <a:ext cx="3239203" cy="584884"/>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Cross-Functional Teamwork, Data &amp; System Integration</a:t>
            </a:r>
          </a:p>
        </p:txBody>
      </p:sp>
      <p:cxnSp>
        <p:nvCxnSpPr>
          <p:cNvPr id="35" name="Straight Arrow Connector 34">
            <a:extLst>
              <a:ext uri="{FF2B5EF4-FFF2-40B4-BE49-F238E27FC236}">
                <a16:creationId xmlns:a16="http://schemas.microsoft.com/office/drawing/2014/main" id="{985CA121-1EDC-FEDF-4071-CFEF9CB1C531}"/>
              </a:ext>
            </a:extLst>
          </p:cNvPr>
          <p:cNvCxnSpPr>
            <a:cxnSpLocks/>
            <a:stCxn id="23" idx="2"/>
            <a:endCxn id="19" idx="3"/>
          </p:cNvCxnSpPr>
          <p:nvPr/>
        </p:nvCxnSpPr>
        <p:spPr>
          <a:xfrm flipH="1">
            <a:off x="4558859" y="1922459"/>
            <a:ext cx="1537140" cy="519234"/>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95D9F8B4-3970-75CD-B32B-16BB9650A914}"/>
              </a:ext>
            </a:extLst>
          </p:cNvPr>
          <p:cNvCxnSpPr>
            <a:cxnSpLocks/>
            <a:stCxn id="23" idx="2"/>
            <a:endCxn id="26" idx="1"/>
          </p:cNvCxnSpPr>
          <p:nvPr/>
        </p:nvCxnSpPr>
        <p:spPr>
          <a:xfrm>
            <a:off x="6095999" y="1922459"/>
            <a:ext cx="1535997" cy="492893"/>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5" name="Rectangle 4">
            <a:extLst>
              <a:ext uri="{FF2B5EF4-FFF2-40B4-BE49-F238E27FC236}">
                <a16:creationId xmlns:a16="http://schemas.microsoft.com/office/drawing/2014/main" id="{B21E7DED-FD6F-A629-242F-C095FB8E1EDF}"/>
              </a:ext>
            </a:extLst>
          </p:cNvPr>
          <p:cNvSpPr/>
          <p:nvPr/>
        </p:nvSpPr>
        <p:spPr>
          <a:xfrm>
            <a:off x="534814" y="3783869"/>
            <a:ext cx="1304620" cy="456681"/>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HR</a:t>
            </a:r>
            <a:endParaRPr lang="en-GB" dirty="0">
              <a:solidFill>
                <a:schemeClr val="bg1">
                  <a:lumMod val="50000"/>
                </a:schemeClr>
              </a:solidFill>
            </a:endParaRPr>
          </a:p>
        </p:txBody>
      </p:sp>
      <p:sp>
        <p:nvSpPr>
          <p:cNvPr id="6" name="Rectangle 5">
            <a:extLst>
              <a:ext uri="{FF2B5EF4-FFF2-40B4-BE49-F238E27FC236}">
                <a16:creationId xmlns:a16="http://schemas.microsoft.com/office/drawing/2014/main" id="{D9C53B71-F83A-72F4-CDF7-C7748491D288}"/>
              </a:ext>
            </a:extLst>
          </p:cNvPr>
          <p:cNvSpPr/>
          <p:nvPr/>
        </p:nvSpPr>
        <p:spPr>
          <a:xfrm>
            <a:off x="3629456" y="3783869"/>
            <a:ext cx="1304620" cy="456681"/>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Finance</a:t>
            </a:r>
            <a:endParaRPr lang="en-GB" dirty="0">
              <a:solidFill>
                <a:schemeClr val="bg1">
                  <a:lumMod val="50000"/>
                </a:schemeClr>
              </a:solidFill>
            </a:endParaRPr>
          </a:p>
        </p:txBody>
      </p:sp>
      <p:sp>
        <p:nvSpPr>
          <p:cNvPr id="17" name="Rectangle 16">
            <a:extLst>
              <a:ext uri="{FF2B5EF4-FFF2-40B4-BE49-F238E27FC236}">
                <a16:creationId xmlns:a16="http://schemas.microsoft.com/office/drawing/2014/main" id="{D66D1E3F-DA67-ED20-FC2A-14EC6A66B965}"/>
              </a:ext>
            </a:extLst>
          </p:cNvPr>
          <p:cNvSpPr/>
          <p:nvPr/>
        </p:nvSpPr>
        <p:spPr>
          <a:xfrm>
            <a:off x="1839434" y="3050196"/>
            <a:ext cx="1790022" cy="456681"/>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lumMod val="50000"/>
                  </a:schemeClr>
                </a:solidFill>
              </a:rPr>
              <a:t>Plan</a:t>
            </a:r>
          </a:p>
        </p:txBody>
      </p:sp>
      <p:cxnSp>
        <p:nvCxnSpPr>
          <p:cNvPr id="20" name="Straight Arrow Connector 19">
            <a:extLst>
              <a:ext uri="{FF2B5EF4-FFF2-40B4-BE49-F238E27FC236}">
                <a16:creationId xmlns:a16="http://schemas.microsoft.com/office/drawing/2014/main" id="{6898BE2F-8D4B-6C49-B5FD-2EBA1B1918CC}"/>
              </a:ext>
            </a:extLst>
          </p:cNvPr>
          <p:cNvCxnSpPr>
            <a:cxnSpLocks/>
            <a:stCxn id="19" idx="2"/>
            <a:endCxn id="17" idx="0"/>
          </p:cNvCxnSpPr>
          <p:nvPr/>
        </p:nvCxnSpPr>
        <p:spPr>
          <a:xfrm flipH="1">
            <a:off x="2734445" y="2734135"/>
            <a:ext cx="10858" cy="316061"/>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CE4FF139-F620-DA2E-27F2-3CB5937E8981}"/>
              </a:ext>
            </a:extLst>
          </p:cNvPr>
          <p:cNvCxnSpPr>
            <a:cxnSpLocks/>
            <a:stCxn id="17" idx="2"/>
            <a:endCxn id="5" idx="3"/>
          </p:cNvCxnSpPr>
          <p:nvPr/>
        </p:nvCxnSpPr>
        <p:spPr>
          <a:xfrm flipH="1">
            <a:off x="1839434" y="3506877"/>
            <a:ext cx="895011" cy="505333"/>
          </a:xfrm>
          <a:prstGeom prst="straightConnector1">
            <a:avLst/>
          </a:prstGeom>
          <a:ln w="38100">
            <a:solidFill>
              <a:srgbClr val="D3E9F0"/>
            </a:solidFill>
            <a:tailEnd type="triangle"/>
          </a:ln>
        </p:spPr>
        <p:style>
          <a:lnRef idx="2">
            <a:schemeClr val="accent1"/>
          </a:lnRef>
          <a:fillRef idx="0">
            <a:schemeClr val="accent1"/>
          </a:fillRef>
          <a:effectRef idx="1">
            <a:schemeClr val="accent1"/>
          </a:effectRef>
          <a:fontRef idx="minor">
            <a:schemeClr val="tx1"/>
          </a:fontRef>
        </p:style>
      </p:cxnSp>
      <p:sp>
        <p:nvSpPr>
          <p:cNvPr id="36" name="Rectangle 35">
            <a:extLst>
              <a:ext uri="{FF2B5EF4-FFF2-40B4-BE49-F238E27FC236}">
                <a16:creationId xmlns:a16="http://schemas.microsoft.com/office/drawing/2014/main" id="{0F7B6078-7FA7-3046-4A16-8FC9D85BF8FC}"/>
              </a:ext>
            </a:extLst>
          </p:cNvPr>
          <p:cNvSpPr/>
          <p:nvPr/>
        </p:nvSpPr>
        <p:spPr>
          <a:xfrm>
            <a:off x="81322" y="4790185"/>
            <a:ext cx="2203374" cy="637292"/>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Send staff on training</a:t>
            </a:r>
            <a:endParaRPr lang="en-GB" dirty="0">
              <a:solidFill>
                <a:schemeClr val="bg1">
                  <a:lumMod val="50000"/>
                </a:schemeClr>
              </a:solidFill>
            </a:endParaRPr>
          </a:p>
        </p:txBody>
      </p:sp>
      <p:cxnSp>
        <p:nvCxnSpPr>
          <p:cNvPr id="42" name="Straight Arrow Connector 41">
            <a:extLst>
              <a:ext uri="{FF2B5EF4-FFF2-40B4-BE49-F238E27FC236}">
                <a16:creationId xmlns:a16="http://schemas.microsoft.com/office/drawing/2014/main" id="{E3BE9175-EDE9-B6AC-1A1C-AD8D7609BC45}"/>
              </a:ext>
            </a:extLst>
          </p:cNvPr>
          <p:cNvCxnSpPr>
            <a:cxnSpLocks/>
            <a:stCxn id="5" idx="2"/>
            <a:endCxn id="36" idx="0"/>
          </p:cNvCxnSpPr>
          <p:nvPr/>
        </p:nvCxnSpPr>
        <p:spPr>
          <a:xfrm flipH="1">
            <a:off x="1183009" y="4240550"/>
            <a:ext cx="4115" cy="549635"/>
          </a:xfrm>
          <a:prstGeom prst="straightConnector1">
            <a:avLst/>
          </a:prstGeom>
          <a:ln w="38100">
            <a:solidFill>
              <a:srgbClr val="D3E9F0"/>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A739FD30-39B5-EBA2-569F-9482F460B02A}"/>
              </a:ext>
            </a:extLst>
          </p:cNvPr>
          <p:cNvCxnSpPr>
            <a:cxnSpLocks/>
            <a:stCxn id="17" idx="2"/>
            <a:endCxn id="6" idx="1"/>
          </p:cNvCxnSpPr>
          <p:nvPr/>
        </p:nvCxnSpPr>
        <p:spPr>
          <a:xfrm>
            <a:off x="2734445" y="3506877"/>
            <a:ext cx="895011" cy="505333"/>
          </a:xfrm>
          <a:prstGeom prst="straightConnector1">
            <a:avLst/>
          </a:prstGeom>
          <a:ln w="38100">
            <a:solidFill>
              <a:srgbClr val="F9C3BE"/>
            </a:solidFill>
            <a:tailEnd type="triangle"/>
          </a:ln>
        </p:spPr>
        <p:style>
          <a:lnRef idx="2">
            <a:schemeClr val="accent1"/>
          </a:lnRef>
          <a:fillRef idx="0">
            <a:schemeClr val="accent1"/>
          </a:fillRef>
          <a:effectRef idx="1">
            <a:schemeClr val="accent1"/>
          </a:effectRef>
          <a:fontRef idx="minor">
            <a:schemeClr val="tx1"/>
          </a:fontRef>
        </p:style>
      </p:cxnSp>
      <p:sp>
        <p:nvSpPr>
          <p:cNvPr id="48" name="Rectangle 47">
            <a:extLst>
              <a:ext uri="{FF2B5EF4-FFF2-40B4-BE49-F238E27FC236}">
                <a16:creationId xmlns:a16="http://schemas.microsoft.com/office/drawing/2014/main" id="{4531B3B9-9428-60C3-6DD4-F5D9DBE57908}"/>
              </a:ext>
            </a:extLst>
          </p:cNvPr>
          <p:cNvSpPr/>
          <p:nvPr/>
        </p:nvSpPr>
        <p:spPr>
          <a:xfrm>
            <a:off x="3181178" y="4790932"/>
            <a:ext cx="2203367" cy="636582"/>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Develop</a:t>
            </a:r>
            <a:r>
              <a:rPr lang="en-US">
                <a:solidFill>
                  <a:schemeClr val="bg1">
                    <a:lumMod val="50000"/>
                  </a:schemeClr>
                </a:solidFill>
              </a:rPr>
              <a:t>/Update th</a:t>
            </a:r>
            <a:r>
              <a:rPr lang="en-US" dirty="0">
                <a:solidFill>
                  <a:schemeClr val="bg1">
                    <a:lumMod val="50000"/>
                  </a:schemeClr>
                </a:solidFill>
              </a:rPr>
              <a:t>e</a:t>
            </a:r>
            <a:r>
              <a:rPr lang="en-US">
                <a:solidFill>
                  <a:schemeClr val="bg1">
                    <a:lumMod val="50000"/>
                  </a:schemeClr>
                </a:solidFill>
              </a:rPr>
              <a:t> </a:t>
            </a:r>
            <a:r>
              <a:rPr lang="en-US" dirty="0">
                <a:solidFill>
                  <a:schemeClr val="bg1">
                    <a:lumMod val="50000"/>
                  </a:schemeClr>
                </a:solidFill>
              </a:rPr>
              <a:t>Budget Allocator</a:t>
            </a:r>
            <a:endParaRPr lang="en-GB" dirty="0">
              <a:solidFill>
                <a:schemeClr val="bg1">
                  <a:lumMod val="50000"/>
                </a:schemeClr>
              </a:solidFill>
            </a:endParaRPr>
          </a:p>
        </p:txBody>
      </p:sp>
      <p:cxnSp>
        <p:nvCxnSpPr>
          <p:cNvPr id="50" name="Straight Arrow Connector 49">
            <a:extLst>
              <a:ext uri="{FF2B5EF4-FFF2-40B4-BE49-F238E27FC236}">
                <a16:creationId xmlns:a16="http://schemas.microsoft.com/office/drawing/2014/main" id="{90054A38-D098-F8BF-6CFF-2E6C2D33F3AE}"/>
              </a:ext>
            </a:extLst>
          </p:cNvPr>
          <p:cNvCxnSpPr>
            <a:cxnSpLocks/>
            <a:stCxn id="6" idx="2"/>
            <a:endCxn id="48" idx="0"/>
          </p:cNvCxnSpPr>
          <p:nvPr/>
        </p:nvCxnSpPr>
        <p:spPr>
          <a:xfrm>
            <a:off x="4281766" y="4240550"/>
            <a:ext cx="1096" cy="550382"/>
          </a:xfrm>
          <a:prstGeom prst="straightConnector1">
            <a:avLst/>
          </a:prstGeom>
          <a:ln w="38100">
            <a:solidFill>
              <a:srgbClr val="F9C3BE"/>
            </a:solidFill>
            <a:tailEnd type="triangle"/>
          </a:ln>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635E6D00-4807-6E33-48EB-2548D095FF83}"/>
              </a:ext>
            </a:extLst>
          </p:cNvPr>
          <p:cNvSpPr/>
          <p:nvPr/>
        </p:nvSpPr>
        <p:spPr>
          <a:xfrm>
            <a:off x="1428653" y="5896885"/>
            <a:ext cx="2558545" cy="636582"/>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Data Team supports</a:t>
            </a:r>
            <a:endParaRPr lang="en-GB" dirty="0">
              <a:solidFill>
                <a:schemeClr val="bg1">
                  <a:lumMod val="50000"/>
                </a:schemeClr>
              </a:solidFill>
            </a:endParaRPr>
          </a:p>
        </p:txBody>
      </p:sp>
      <p:cxnSp>
        <p:nvCxnSpPr>
          <p:cNvPr id="65" name="Straight Arrow Connector 64">
            <a:extLst>
              <a:ext uri="{FF2B5EF4-FFF2-40B4-BE49-F238E27FC236}">
                <a16:creationId xmlns:a16="http://schemas.microsoft.com/office/drawing/2014/main" id="{D1CA80CF-A7DE-673B-FB18-89643DEA6AE9}"/>
              </a:ext>
            </a:extLst>
          </p:cNvPr>
          <p:cNvCxnSpPr>
            <a:cxnSpLocks/>
            <a:stCxn id="64" idx="0"/>
            <a:endCxn id="36" idx="2"/>
          </p:cNvCxnSpPr>
          <p:nvPr/>
        </p:nvCxnSpPr>
        <p:spPr>
          <a:xfrm flipH="1" flipV="1">
            <a:off x="1183009" y="5427477"/>
            <a:ext cx="1524917" cy="469408"/>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22C09E9F-A66C-C92F-991C-35397490BD07}"/>
              </a:ext>
            </a:extLst>
          </p:cNvPr>
          <p:cNvCxnSpPr>
            <a:cxnSpLocks/>
            <a:stCxn id="64" idx="0"/>
            <a:endCxn id="48" idx="2"/>
          </p:cNvCxnSpPr>
          <p:nvPr/>
        </p:nvCxnSpPr>
        <p:spPr>
          <a:xfrm flipV="1">
            <a:off x="2707926" y="5427514"/>
            <a:ext cx="1574936" cy="469371"/>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91" name="Rectangle 90">
            <a:extLst>
              <a:ext uri="{FF2B5EF4-FFF2-40B4-BE49-F238E27FC236}">
                <a16:creationId xmlns:a16="http://schemas.microsoft.com/office/drawing/2014/main" id="{8887D23B-ABB4-C963-1C34-6C5FF6FC8261}"/>
              </a:ext>
            </a:extLst>
          </p:cNvPr>
          <p:cNvSpPr/>
          <p:nvPr/>
        </p:nvSpPr>
        <p:spPr>
          <a:xfrm>
            <a:off x="8356586" y="3012289"/>
            <a:ext cx="1790022" cy="456681"/>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lumMod val="50000"/>
                  </a:schemeClr>
                </a:solidFill>
              </a:rPr>
              <a:t>Plan</a:t>
            </a:r>
          </a:p>
        </p:txBody>
      </p:sp>
      <p:cxnSp>
        <p:nvCxnSpPr>
          <p:cNvPr id="92" name="Straight Arrow Connector 91">
            <a:extLst>
              <a:ext uri="{FF2B5EF4-FFF2-40B4-BE49-F238E27FC236}">
                <a16:creationId xmlns:a16="http://schemas.microsoft.com/office/drawing/2014/main" id="{4A63BD8F-93F1-4F92-EDBA-DEC9B87ABC40}"/>
              </a:ext>
            </a:extLst>
          </p:cNvPr>
          <p:cNvCxnSpPr>
            <a:cxnSpLocks/>
            <a:stCxn id="26" idx="2"/>
            <a:endCxn id="91" idx="0"/>
          </p:cNvCxnSpPr>
          <p:nvPr/>
        </p:nvCxnSpPr>
        <p:spPr>
          <a:xfrm flipH="1">
            <a:off x="9251597" y="2707794"/>
            <a:ext cx="1" cy="304495"/>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96" name="Rectangle 95">
            <a:extLst>
              <a:ext uri="{FF2B5EF4-FFF2-40B4-BE49-F238E27FC236}">
                <a16:creationId xmlns:a16="http://schemas.microsoft.com/office/drawing/2014/main" id="{743F0BEE-B2F6-F0DD-CB7D-AE841ABF8D29}"/>
              </a:ext>
            </a:extLst>
          </p:cNvPr>
          <p:cNvSpPr/>
          <p:nvPr/>
        </p:nvSpPr>
        <p:spPr>
          <a:xfrm>
            <a:off x="7076829" y="3787616"/>
            <a:ext cx="1304620" cy="456681"/>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HR</a:t>
            </a:r>
            <a:endParaRPr lang="en-GB" dirty="0">
              <a:solidFill>
                <a:schemeClr val="bg1">
                  <a:lumMod val="50000"/>
                </a:schemeClr>
              </a:solidFill>
            </a:endParaRPr>
          </a:p>
        </p:txBody>
      </p:sp>
      <p:sp>
        <p:nvSpPr>
          <p:cNvPr id="97" name="Rectangle 96">
            <a:extLst>
              <a:ext uri="{FF2B5EF4-FFF2-40B4-BE49-F238E27FC236}">
                <a16:creationId xmlns:a16="http://schemas.microsoft.com/office/drawing/2014/main" id="{77124617-1440-5005-0AE3-568A1461FA43}"/>
              </a:ext>
            </a:extLst>
          </p:cNvPr>
          <p:cNvSpPr/>
          <p:nvPr/>
        </p:nvSpPr>
        <p:spPr>
          <a:xfrm>
            <a:off x="10171471" y="3822589"/>
            <a:ext cx="1304620" cy="473765"/>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Finance</a:t>
            </a:r>
            <a:endParaRPr lang="en-GB" dirty="0">
              <a:solidFill>
                <a:schemeClr val="bg1">
                  <a:lumMod val="50000"/>
                </a:schemeClr>
              </a:solidFill>
            </a:endParaRPr>
          </a:p>
        </p:txBody>
      </p:sp>
      <p:cxnSp>
        <p:nvCxnSpPr>
          <p:cNvPr id="100" name="Straight Arrow Connector 99">
            <a:extLst>
              <a:ext uri="{FF2B5EF4-FFF2-40B4-BE49-F238E27FC236}">
                <a16:creationId xmlns:a16="http://schemas.microsoft.com/office/drawing/2014/main" id="{4E9082CD-B985-35DD-7A2A-87B2F875A3EC}"/>
              </a:ext>
            </a:extLst>
          </p:cNvPr>
          <p:cNvCxnSpPr>
            <a:cxnSpLocks/>
            <a:stCxn id="91" idx="2"/>
            <a:endCxn id="96" idx="3"/>
          </p:cNvCxnSpPr>
          <p:nvPr/>
        </p:nvCxnSpPr>
        <p:spPr>
          <a:xfrm flipH="1">
            <a:off x="8381449" y="3468970"/>
            <a:ext cx="870148" cy="546987"/>
          </a:xfrm>
          <a:prstGeom prst="straightConnector1">
            <a:avLst/>
          </a:prstGeom>
          <a:ln w="38100">
            <a:solidFill>
              <a:srgbClr val="D3E9F0"/>
            </a:solidFill>
            <a:tailEnd type="triangle"/>
          </a:ln>
        </p:spPr>
        <p:style>
          <a:lnRef idx="2">
            <a:schemeClr val="accent1"/>
          </a:lnRef>
          <a:fillRef idx="0">
            <a:schemeClr val="accent1"/>
          </a:fillRef>
          <a:effectRef idx="1">
            <a:schemeClr val="accent1"/>
          </a:effectRef>
          <a:fontRef idx="minor">
            <a:schemeClr val="tx1"/>
          </a:fontRef>
        </p:style>
      </p:cxnSp>
      <p:cxnSp>
        <p:nvCxnSpPr>
          <p:cNvPr id="101" name="Straight Arrow Connector 100">
            <a:extLst>
              <a:ext uri="{FF2B5EF4-FFF2-40B4-BE49-F238E27FC236}">
                <a16:creationId xmlns:a16="http://schemas.microsoft.com/office/drawing/2014/main" id="{8131B7B5-B95D-AF57-0F14-A17B9A6D7968}"/>
              </a:ext>
            </a:extLst>
          </p:cNvPr>
          <p:cNvCxnSpPr>
            <a:cxnSpLocks/>
            <a:stCxn id="91" idx="2"/>
            <a:endCxn id="97" idx="1"/>
          </p:cNvCxnSpPr>
          <p:nvPr/>
        </p:nvCxnSpPr>
        <p:spPr>
          <a:xfrm>
            <a:off x="9251597" y="3468970"/>
            <a:ext cx="919874" cy="590502"/>
          </a:xfrm>
          <a:prstGeom prst="straightConnector1">
            <a:avLst/>
          </a:prstGeom>
          <a:ln w="38100">
            <a:solidFill>
              <a:srgbClr val="F9C3BE"/>
            </a:solidFill>
            <a:tailEnd type="triangle"/>
          </a:ln>
        </p:spPr>
        <p:style>
          <a:lnRef idx="2">
            <a:schemeClr val="accent1"/>
          </a:lnRef>
          <a:fillRef idx="0">
            <a:schemeClr val="accent1"/>
          </a:fillRef>
          <a:effectRef idx="1">
            <a:schemeClr val="accent1"/>
          </a:effectRef>
          <a:fontRef idx="minor">
            <a:schemeClr val="tx1"/>
          </a:fontRef>
        </p:style>
      </p:cxnSp>
      <p:sp>
        <p:nvSpPr>
          <p:cNvPr id="106" name="Rectangle 105">
            <a:extLst>
              <a:ext uri="{FF2B5EF4-FFF2-40B4-BE49-F238E27FC236}">
                <a16:creationId xmlns:a16="http://schemas.microsoft.com/office/drawing/2014/main" id="{01C1424A-7CBF-4FDF-A32F-2B68F2CDC855}"/>
              </a:ext>
            </a:extLst>
          </p:cNvPr>
          <p:cNvSpPr/>
          <p:nvPr/>
        </p:nvSpPr>
        <p:spPr>
          <a:xfrm>
            <a:off x="6624116" y="4750879"/>
            <a:ext cx="2203374" cy="637292"/>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Upon responses  update HR policy</a:t>
            </a:r>
            <a:endParaRPr lang="en-GB" dirty="0">
              <a:solidFill>
                <a:schemeClr val="bg1">
                  <a:lumMod val="50000"/>
                </a:schemeClr>
              </a:solidFill>
            </a:endParaRPr>
          </a:p>
        </p:txBody>
      </p:sp>
      <p:sp>
        <p:nvSpPr>
          <p:cNvPr id="107" name="Rectangle 106">
            <a:extLst>
              <a:ext uri="{FF2B5EF4-FFF2-40B4-BE49-F238E27FC236}">
                <a16:creationId xmlns:a16="http://schemas.microsoft.com/office/drawing/2014/main" id="{7F2595AE-64ED-5D9A-6A40-63179D9845B0}"/>
              </a:ext>
            </a:extLst>
          </p:cNvPr>
          <p:cNvSpPr/>
          <p:nvPr/>
        </p:nvSpPr>
        <p:spPr>
          <a:xfrm>
            <a:off x="9723965" y="4751589"/>
            <a:ext cx="2203367" cy="636582"/>
          </a:xfrm>
          <a:prstGeom prst="rect">
            <a:avLst/>
          </a:prstGeom>
          <a:solidFill>
            <a:srgbClr val="F9C3B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Simplify Processes</a:t>
            </a:r>
            <a:endParaRPr lang="en-GB" dirty="0">
              <a:solidFill>
                <a:schemeClr val="bg1">
                  <a:lumMod val="50000"/>
                </a:schemeClr>
              </a:solidFill>
            </a:endParaRPr>
          </a:p>
        </p:txBody>
      </p:sp>
      <p:cxnSp>
        <p:nvCxnSpPr>
          <p:cNvPr id="109" name="Straight Arrow Connector 108">
            <a:extLst>
              <a:ext uri="{FF2B5EF4-FFF2-40B4-BE49-F238E27FC236}">
                <a16:creationId xmlns:a16="http://schemas.microsoft.com/office/drawing/2014/main" id="{D50CF9D5-1574-A415-6086-9F0632CDC677}"/>
              </a:ext>
            </a:extLst>
          </p:cNvPr>
          <p:cNvCxnSpPr>
            <a:cxnSpLocks/>
            <a:stCxn id="97" idx="2"/>
            <a:endCxn id="107" idx="0"/>
          </p:cNvCxnSpPr>
          <p:nvPr/>
        </p:nvCxnSpPr>
        <p:spPr>
          <a:xfrm>
            <a:off x="10823781" y="4296354"/>
            <a:ext cx="1868" cy="455235"/>
          </a:xfrm>
          <a:prstGeom prst="straightConnector1">
            <a:avLst/>
          </a:prstGeom>
          <a:ln w="38100">
            <a:solidFill>
              <a:srgbClr val="F9C3BE"/>
            </a:solidFill>
            <a:tailEnd type="triangle"/>
          </a:ln>
        </p:spPr>
        <p:style>
          <a:lnRef idx="2">
            <a:schemeClr val="accent1"/>
          </a:lnRef>
          <a:fillRef idx="0">
            <a:schemeClr val="accent1"/>
          </a:fillRef>
          <a:effectRef idx="1">
            <a:schemeClr val="accent1"/>
          </a:effectRef>
          <a:fontRef idx="minor">
            <a:schemeClr val="tx1"/>
          </a:fontRef>
        </p:style>
      </p:cxnSp>
      <p:cxnSp>
        <p:nvCxnSpPr>
          <p:cNvPr id="113" name="Straight Arrow Connector 112">
            <a:extLst>
              <a:ext uri="{FF2B5EF4-FFF2-40B4-BE49-F238E27FC236}">
                <a16:creationId xmlns:a16="http://schemas.microsoft.com/office/drawing/2014/main" id="{C82D64B7-3EA5-0C1F-603F-1AC05DB12620}"/>
              </a:ext>
            </a:extLst>
          </p:cNvPr>
          <p:cNvCxnSpPr>
            <a:cxnSpLocks/>
            <a:stCxn id="96" idx="2"/>
            <a:endCxn id="106" idx="0"/>
          </p:cNvCxnSpPr>
          <p:nvPr/>
        </p:nvCxnSpPr>
        <p:spPr>
          <a:xfrm flipH="1">
            <a:off x="7725803" y="4244297"/>
            <a:ext cx="3336" cy="506582"/>
          </a:xfrm>
          <a:prstGeom prst="straightConnector1">
            <a:avLst/>
          </a:prstGeom>
          <a:ln w="38100">
            <a:solidFill>
              <a:srgbClr val="D3E9F0"/>
            </a:solidFill>
            <a:tailEnd type="triangle"/>
          </a:ln>
        </p:spPr>
        <p:style>
          <a:lnRef idx="2">
            <a:schemeClr val="accent1"/>
          </a:lnRef>
          <a:fillRef idx="0">
            <a:schemeClr val="accent1"/>
          </a:fillRef>
          <a:effectRef idx="1">
            <a:schemeClr val="accent1"/>
          </a:effectRef>
          <a:fontRef idx="minor">
            <a:schemeClr val="tx1"/>
          </a:fontRef>
        </p:style>
      </p:cxnSp>
      <p:sp>
        <p:nvSpPr>
          <p:cNvPr id="117" name="Rectangle 116">
            <a:extLst>
              <a:ext uri="{FF2B5EF4-FFF2-40B4-BE49-F238E27FC236}">
                <a16:creationId xmlns:a16="http://schemas.microsoft.com/office/drawing/2014/main" id="{DC6F4173-6ABD-688C-909C-7535E3752861}"/>
              </a:ext>
            </a:extLst>
          </p:cNvPr>
          <p:cNvSpPr/>
          <p:nvPr/>
        </p:nvSpPr>
        <p:spPr>
          <a:xfrm>
            <a:off x="7990000" y="5856832"/>
            <a:ext cx="2558546" cy="636582"/>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Data and BA Team supports</a:t>
            </a:r>
            <a:endParaRPr lang="en-GB" dirty="0">
              <a:solidFill>
                <a:schemeClr val="bg1">
                  <a:lumMod val="50000"/>
                </a:schemeClr>
              </a:solidFill>
            </a:endParaRPr>
          </a:p>
        </p:txBody>
      </p:sp>
      <p:cxnSp>
        <p:nvCxnSpPr>
          <p:cNvPr id="118" name="Straight Arrow Connector 117">
            <a:extLst>
              <a:ext uri="{FF2B5EF4-FFF2-40B4-BE49-F238E27FC236}">
                <a16:creationId xmlns:a16="http://schemas.microsoft.com/office/drawing/2014/main" id="{05CB8CA5-2949-F278-8935-6E18E14F5DEA}"/>
              </a:ext>
            </a:extLst>
          </p:cNvPr>
          <p:cNvCxnSpPr>
            <a:cxnSpLocks/>
            <a:stCxn id="117" idx="0"/>
            <a:endCxn id="106" idx="2"/>
          </p:cNvCxnSpPr>
          <p:nvPr/>
        </p:nvCxnSpPr>
        <p:spPr>
          <a:xfrm flipH="1" flipV="1">
            <a:off x="7725803" y="5388171"/>
            <a:ext cx="1543470" cy="468661"/>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A878E61A-BE20-4334-FFDE-65B937DDD2F6}"/>
              </a:ext>
            </a:extLst>
          </p:cNvPr>
          <p:cNvCxnSpPr>
            <a:cxnSpLocks/>
            <a:stCxn id="117" idx="0"/>
            <a:endCxn id="107" idx="2"/>
          </p:cNvCxnSpPr>
          <p:nvPr/>
        </p:nvCxnSpPr>
        <p:spPr>
          <a:xfrm flipV="1">
            <a:off x="9269273" y="5388171"/>
            <a:ext cx="1556376" cy="468661"/>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3284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Straight Arrow Connector 26">
            <a:extLst>
              <a:ext uri="{FF2B5EF4-FFF2-40B4-BE49-F238E27FC236}">
                <a16:creationId xmlns:a16="http://schemas.microsoft.com/office/drawing/2014/main" id="{5C8C6F6D-16C8-217A-6E58-9A50C66593C1}"/>
              </a:ext>
            </a:extLst>
          </p:cNvPr>
          <p:cNvCxnSpPr>
            <a:cxnSpLocks/>
            <a:stCxn id="22" idx="3"/>
            <a:endCxn id="117" idx="1"/>
          </p:cNvCxnSpPr>
          <p:nvPr/>
        </p:nvCxnSpPr>
        <p:spPr>
          <a:xfrm>
            <a:off x="3253442" y="4103872"/>
            <a:ext cx="868478" cy="5517"/>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 name="Text Placeholder 1">
            <a:extLst>
              <a:ext uri="{FF2B5EF4-FFF2-40B4-BE49-F238E27FC236}">
                <a16:creationId xmlns:a16="http://schemas.microsoft.com/office/drawing/2014/main" id="{A31918E0-80BA-D5F2-A48B-A73336C85BB0}"/>
              </a:ext>
            </a:extLst>
          </p:cNvPr>
          <p:cNvSpPr>
            <a:spLocks noGrp="1"/>
          </p:cNvSpPr>
          <p:nvPr>
            <p:ph type="body" sz="quarter" idx="10"/>
          </p:nvPr>
        </p:nvSpPr>
        <p:spPr>
          <a:xfrm>
            <a:off x="187286" y="175012"/>
            <a:ext cx="11464887" cy="898623"/>
          </a:xfrm>
        </p:spPr>
        <p:txBody>
          <a:bodyPr/>
          <a:lstStyle/>
          <a:p>
            <a:r>
              <a:rPr lang="en-GB" dirty="0"/>
              <a:t>Data Strategy…where do I start?</a:t>
            </a:r>
          </a:p>
        </p:txBody>
      </p:sp>
      <p:sp>
        <p:nvSpPr>
          <p:cNvPr id="22" name="Rectangle 21">
            <a:extLst>
              <a:ext uri="{FF2B5EF4-FFF2-40B4-BE49-F238E27FC236}">
                <a16:creationId xmlns:a16="http://schemas.microsoft.com/office/drawing/2014/main" id="{4C96E967-FD47-E9A7-B862-CDC238B0362A}"/>
              </a:ext>
            </a:extLst>
          </p:cNvPr>
          <p:cNvSpPr/>
          <p:nvPr/>
        </p:nvSpPr>
        <p:spPr>
          <a:xfrm>
            <a:off x="279001" y="3785581"/>
            <a:ext cx="2974441" cy="636582"/>
          </a:xfrm>
          <a:prstGeom prst="rect">
            <a:avLst/>
          </a:prstGeom>
          <a:solidFill>
            <a:srgbClr val="FAE1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lumMod val="50000"/>
                  </a:schemeClr>
                </a:solidFill>
              </a:rPr>
              <a:t>Improve Employee Retention</a:t>
            </a:r>
          </a:p>
        </p:txBody>
      </p:sp>
      <p:sp>
        <p:nvSpPr>
          <p:cNvPr id="26" name="Rectangle 25">
            <a:extLst>
              <a:ext uri="{FF2B5EF4-FFF2-40B4-BE49-F238E27FC236}">
                <a16:creationId xmlns:a16="http://schemas.microsoft.com/office/drawing/2014/main" id="{0EC55E09-0E8F-BD26-B75E-0104E88EB047}"/>
              </a:ext>
            </a:extLst>
          </p:cNvPr>
          <p:cNvSpPr/>
          <p:nvPr/>
        </p:nvSpPr>
        <p:spPr>
          <a:xfrm>
            <a:off x="9093629" y="3785581"/>
            <a:ext cx="2558545" cy="636582"/>
          </a:xfrm>
          <a:prstGeom prst="rect">
            <a:avLst/>
          </a:prstGeom>
          <a:solidFill>
            <a:srgbClr val="D3E9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Cross Team Collaboration</a:t>
            </a:r>
            <a:endParaRPr lang="en-GB" dirty="0">
              <a:solidFill>
                <a:schemeClr val="bg1">
                  <a:lumMod val="50000"/>
                </a:schemeClr>
              </a:solidFill>
            </a:endParaRPr>
          </a:p>
        </p:txBody>
      </p:sp>
      <p:sp>
        <p:nvSpPr>
          <p:cNvPr id="117" name="Rectangle 116">
            <a:extLst>
              <a:ext uri="{FF2B5EF4-FFF2-40B4-BE49-F238E27FC236}">
                <a16:creationId xmlns:a16="http://schemas.microsoft.com/office/drawing/2014/main" id="{DC6F4173-6ABD-688C-909C-7535E3752861}"/>
              </a:ext>
            </a:extLst>
          </p:cNvPr>
          <p:cNvSpPr/>
          <p:nvPr/>
        </p:nvSpPr>
        <p:spPr>
          <a:xfrm>
            <a:off x="4121920" y="3791098"/>
            <a:ext cx="2558546" cy="636582"/>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Data Strategy</a:t>
            </a:r>
            <a:endParaRPr lang="en-GB" dirty="0">
              <a:solidFill>
                <a:schemeClr val="bg1">
                  <a:lumMod val="50000"/>
                </a:schemeClr>
              </a:solidFill>
            </a:endParaRPr>
          </a:p>
        </p:txBody>
      </p:sp>
      <p:sp>
        <p:nvSpPr>
          <p:cNvPr id="43" name="Rectangle 42">
            <a:extLst>
              <a:ext uri="{FF2B5EF4-FFF2-40B4-BE49-F238E27FC236}">
                <a16:creationId xmlns:a16="http://schemas.microsoft.com/office/drawing/2014/main" id="{A70ED0C9-7AC6-FF8C-3DF8-7F361BDE125B}"/>
              </a:ext>
            </a:extLst>
          </p:cNvPr>
          <p:cNvSpPr/>
          <p:nvPr/>
        </p:nvSpPr>
        <p:spPr>
          <a:xfrm>
            <a:off x="4121920" y="4988070"/>
            <a:ext cx="2558546" cy="636582"/>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Technology Strategy</a:t>
            </a:r>
            <a:endParaRPr lang="en-GB" dirty="0">
              <a:solidFill>
                <a:schemeClr val="bg1">
                  <a:lumMod val="50000"/>
                </a:schemeClr>
              </a:solidFill>
            </a:endParaRPr>
          </a:p>
        </p:txBody>
      </p:sp>
      <p:cxnSp>
        <p:nvCxnSpPr>
          <p:cNvPr id="46" name="Straight Arrow Connector 45">
            <a:extLst>
              <a:ext uri="{FF2B5EF4-FFF2-40B4-BE49-F238E27FC236}">
                <a16:creationId xmlns:a16="http://schemas.microsoft.com/office/drawing/2014/main" id="{4467D665-BEFC-8465-DB36-C609A4217FB1}"/>
              </a:ext>
            </a:extLst>
          </p:cNvPr>
          <p:cNvCxnSpPr>
            <a:cxnSpLocks/>
            <a:stCxn id="22" idx="3"/>
            <a:endCxn id="43" idx="1"/>
          </p:cNvCxnSpPr>
          <p:nvPr/>
        </p:nvCxnSpPr>
        <p:spPr>
          <a:xfrm>
            <a:off x="3253442" y="4103872"/>
            <a:ext cx="868478" cy="1202489"/>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51" name="Rectangle 50">
            <a:extLst>
              <a:ext uri="{FF2B5EF4-FFF2-40B4-BE49-F238E27FC236}">
                <a16:creationId xmlns:a16="http://schemas.microsoft.com/office/drawing/2014/main" id="{A5DD7792-EB82-E749-3DCE-273B8C26CB3D}"/>
              </a:ext>
            </a:extLst>
          </p:cNvPr>
          <p:cNvSpPr/>
          <p:nvPr/>
        </p:nvSpPr>
        <p:spPr>
          <a:xfrm>
            <a:off x="4121920" y="2594126"/>
            <a:ext cx="2558546" cy="636582"/>
          </a:xfrm>
          <a:prstGeom prst="rect">
            <a:avLst/>
          </a:prstGeom>
          <a:solidFill>
            <a:srgbClr val="95D3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lumMod val="50000"/>
                  </a:schemeClr>
                </a:solidFill>
              </a:rPr>
              <a:t>Business Strategy</a:t>
            </a:r>
            <a:endParaRPr lang="en-GB" dirty="0">
              <a:solidFill>
                <a:schemeClr val="bg1">
                  <a:lumMod val="50000"/>
                </a:schemeClr>
              </a:solidFill>
            </a:endParaRPr>
          </a:p>
        </p:txBody>
      </p:sp>
      <p:cxnSp>
        <p:nvCxnSpPr>
          <p:cNvPr id="52" name="Straight Arrow Connector 51">
            <a:extLst>
              <a:ext uri="{FF2B5EF4-FFF2-40B4-BE49-F238E27FC236}">
                <a16:creationId xmlns:a16="http://schemas.microsoft.com/office/drawing/2014/main" id="{75DCB23C-7D20-6BC0-9376-44F709D0A653}"/>
              </a:ext>
            </a:extLst>
          </p:cNvPr>
          <p:cNvCxnSpPr>
            <a:cxnSpLocks/>
            <a:stCxn id="22" idx="3"/>
            <a:endCxn id="51" idx="1"/>
          </p:cNvCxnSpPr>
          <p:nvPr/>
        </p:nvCxnSpPr>
        <p:spPr>
          <a:xfrm flipV="1">
            <a:off x="3253442" y="2912417"/>
            <a:ext cx="868478" cy="1191455"/>
          </a:xfrm>
          <a:prstGeom prst="straightConnector1">
            <a:avLst/>
          </a:prstGeom>
          <a:ln w="38100">
            <a:solidFill>
              <a:srgbClr val="95D3CF"/>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31201AE7-5F29-33B3-E814-D23F041B4328}"/>
              </a:ext>
            </a:extLst>
          </p:cNvPr>
          <p:cNvCxnSpPr>
            <a:cxnSpLocks/>
            <a:stCxn id="51" idx="3"/>
            <a:endCxn id="26" idx="1"/>
          </p:cNvCxnSpPr>
          <p:nvPr/>
        </p:nvCxnSpPr>
        <p:spPr>
          <a:xfrm>
            <a:off x="6680466" y="2912417"/>
            <a:ext cx="2413163" cy="1191455"/>
          </a:xfrm>
          <a:prstGeom prst="straightConnector1">
            <a:avLst/>
          </a:prstGeom>
          <a:ln w="381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66F25535-5E71-25B1-2288-3B74AD860159}"/>
              </a:ext>
            </a:extLst>
          </p:cNvPr>
          <p:cNvCxnSpPr>
            <a:cxnSpLocks/>
            <a:stCxn id="117" idx="3"/>
            <a:endCxn id="26" idx="1"/>
          </p:cNvCxnSpPr>
          <p:nvPr/>
        </p:nvCxnSpPr>
        <p:spPr>
          <a:xfrm flipV="1">
            <a:off x="6680466" y="4103872"/>
            <a:ext cx="2413163" cy="5517"/>
          </a:xfrm>
          <a:prstGeom prst="straightConnector1">
            <a:avLst/>
          </a:prstGeom>
          <a:ln w="381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2664A7C3-F95A-4BF5-EB65-A1A951046654}"/>
              </a:ext>
            </a:extLst>
          </p:cNvPr>
          <p:cNvCxnSpPr>
            <a:cxnSpLocks/>
            <a:stCxn id="43" idx="3"/>
            <a:endCxn id="26" idx="1"/>
          </p:cNvCxnSpPr>
          <p:nvPr/>
        </p:nvCxnSpPr>
        <p:spPr>
          <a:xfrm flipV="1">
            <a:off x="6680466" y="4103872"/>
            <a:ext cx="2413163" cy="1202489"/>
          </a:xfrm>
          <a:prstGeom prst="straightConnector1">
            <a:avLst/>
          </a:prstGeom>
          <a:ln w="38100">
            <a:solidFill>
              <a:srgbClr val="0070C0"/>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93" name="Rectangle 92">
            <a:extLst>
              <a:ext uri="{FF2B5EF4-FFF2-40B4-BE49-F238E27FC236}">
                <a16:creationId xmlns:a16="http://schemas.microsoft.com/office/drawing/2014/main" id="{222CA72C-7950-2953-FBFF-6EFB3F995B51}"/>
              </a:ext>
            </a:extLst>
          </p:cNvPr>
          <p:cNvSpPr/>
          <p:nvPr/>
        </p:nvSpPr>
        <p:spPr>
          <a:xfrm>
            <a:off x="279001" y="1972623"/>
            <a:ext cx="11373172" cy="328147"/>
          </a:xfrm>
          <a:prstGeom prst="rect">
            <a:avLst/>
          </a:prstGeom>
          <a:solidFill>
            <a:srgbClr val="0070C0"/>
          </a:solidFill>
          <a:ln>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1" dirty="0">
                <a:solidFill>
                  <a:schemeClr val="bg1"/>
                </a:solidFill>
              </a:rPr>
              <a:t>Communication</a:t>
            </a:r>
            <a:endParaRPr lang="en-GB" b="1" i="1" dirty="0">
              <a:solidFill>
                <a:schemeClr val="bg1"/>
              </a:solidFill>
            </a:endParaRPr>
          </a:p>
        </p:txBody>
      </p:sp>
    </p:spTree>
    <p:extLst>
      <p:ext uri="{BB962C8B-B14F-4D97-AF65-F5344CB8AC3E}">
        <p14:creationId xmlns:p14="http://schemas.microsoft.com/office/powerpoint/2010/main" val="678157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4" name="Text Placeholder 1">
            <a:extLst>
              <a:ext uri="{FF2B5EF4-FFF2-40B4-BE49-F238E27FC236}">
                <a16:creationId xmlns:a16="http://schemas.microsoft.com/office/drawing/2014/main" id="{AA5CC8AC-41BD-E614-03D5-C8B93BEF697E}"/>
              </a:ext>
            </a:extLst>
          </p:cNvPr>
          <p:cNvSpPr txBox="1">
            <a:spLocks/>
          </p:cNvSpPr>
          <p:nvPr/>
        </p:nvSpPr>
        <p:spPr>
          <a:xfrm>
            <a:off x="0" y="360991"/>
            <a:ext cx="4794470" cy="954194"/>
          </a:xfrm>
          <a:prstGeom prst="rect">
            <a:avLst/>
          </a:prstGeom>
        </p:spPr>
        <p:txBody>
          <a:bodyPr vert="horz" lIns="91440" tIns="45720" rIns="91440" bIns="45720" rtlCol="0" anchor="t">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fontAlgn="auto">
              <a:spcBef>
                <a:spcPct val="0"/>
              </a:spcBef>
              <a:spcAft>
                <a:spcPts val="600"/>
              </a:spcAft>
              <a:buClrTx/>
              <a:buSzTx/>
              <a:tabLst/>
              <a:defRPr/>
            </a:pPr>
            <a:endParaRPr kumimoji="0" lang="en-US" b="1" i="0" u="none" strike="noStrike" kern="1200" cap="none" spc="0" normalizeH="0" baseline="0" noProof="0">
              <a:ln>
                <a:noFill/>
              </a:ln>
              <a:solidFill>
                <a:schemeClr val="tx1"/>
              </a:solidFill>
              <a:effectLst/>
              <a:uLnTx/>
              <a:uFillTx/>
              <a:latin typeface="+mj-lt"/>
              <a:ea typeface="+mj-ea"/>
              <a:cs typeface="+mj-cs"/>
            </a:endParaRPr>
          </a:p>
        </p:txBody>
      </p:sp>
      <p:sp>
        <p:nvSpPr>
          <p:cNvPr id="7" name="Title 7">
            <a:extLst>
              <a:ext uri="{FF2B5EF4-FFF2-40B4-BE49-F238E27FC236}">
                <a16:creationId xmlns:a16="http://schemas.microsoft.com/office/drawing/2014/main" id="{445228F5-A3E5-37D3-9B73-F2877EF6AF70}"/>
              </a:ext>
            </a:extLst>
          </p:cNvPr>
          <p:cNvSpPr txBox="1">
            <a:spLocks/>
          </p:cNvSpPr>
          <p:nvPr/>
        </p:nvSpPr>
        <p:spPr>
          <a:xfrm>
            <a:off x="538480" y="306830"/>
            <a:ext cx="10180320" cy="4673600"/>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Arial (Body)"/>
              </a:rPr>
              <a:t>Discussion</a:t>
            </a:r>
          </a:p>
          <a:p>
            <a:endParaRPr lang="en-US" sz="3200" b="1" dirty="0">
              <a:latin typeface="Arial (Body)"/>
            </a:endParaRPr>
          </a:p>
          <a:p>
            <a:r>
              <a:rPr lang="en-US" sz="2000" b="1" dirty="0">
                <a:solidFill>
                  <a:srgbClr val="0070C0"/>
                </a:solidFill>
                <a:latin typeface="Arial (Body)"/>
              </a:rPr>
              <a:t>Amongst your group, please read the scenario and discuss the following questions:</a:t>
            </a:r>
          </a:p>
          <a:p>
            <a:endParaRPr lang="en-US" sz="2000" b="1" dirty="0">
              <a:solidFill>
                <a:srgbClr val="0070C0"/>
              </a:solidFill>
              <a:latin typeface="Arial (Body)"/>
            </a:endParaRPr>
          </a:p>
          <a:p>
            <a:endParaRPr lang="en-US" sz="2000" b="1" dirty="0">
              <a:solidFill>
                <a:srgbClr val="00B050"/>
              </a:solidFill>
              <a:latin typeface="Arial (Body)"/>
            </a:endParaRPr>
          </a:p>
          <a:p>
            <a:pPr>
              <a:lnSpc>
                <a:spcPct val="107000"/>
              </a:lnSpc>
              <a:spcAft>
                <a:spcPts val="800"/>
              </a:spcAft>
            </a:pPr>
            <a:r>
              <a:rPr lang="en-GB" sz="2000" b="1" kern="100" dirty="0">
                <a:solidFill>
                  <a:srgbClr val="00B050"/>
                </a:solidFill>
                <a:effectLst/>
                <a:latin typeface="Arial" panose="020B0604020202020204" pitchFamily="34" charset="0"/>
                <a:ea typeface="Aptos" panose="020B0004020202020204" pitchFamily="34" charset="0"/>
                <a:cs typeface="Arial" panose="020B0604020202020204" pitchFamily="34" charset="0"/>
              </a:rPr>
              <a:t>🧐 What are the key issues affecting Company A’s data culture? </a:t>
            </a:r>
          </a:p>
          <a:p>
            <a:pPr>
              <a:lnSpc>
                <a:spcPct val="107000"/>
              </a:lnSpc>
              <a:spcAft>
                <a:spcPts val="800"/>
              </a:spcAft>
            </a:pPr>
            <a:endParaRPr lang="en-GB" sz="2000" b="1" kern="100" dirty="0">
              <a:solidFill>
                <a:srgbClr val="00B050"/>
              </a:solidFill>
              <a:effectLst/>
              <a:latin typeface="Arial" panose="020B0604020202020204" pitchFamily="34" charset="0"/>
              <a:ea typeface="Aptos" panose="020B0004020202020204" pitchFamily="34" charset="0"/>
              <a:cs typeface="Arial" panose="020B0604020202020204" pitchFamily="34" charset="0"/>
            </a:endParaRPr>
          </a:p>
          <a:p>
            <a:pPr>
              <a:lnSpc>
                <a:spcPct val="107000"/>
              </a:lnSpc>
              <a:spcAft>
                <a:spcPts val="800"/>
              </a:spcAft>
            </a:pPr>
            <a:r>
              <a:rPr lang="en-GB" sz="2000" b="1" kern="100" dirty="0">
                <a:solidFill>
                  <a:srgbClr val="00B050"/>
                </a:solidFill>
                <a:effectLst/>
                <a:latin typeface="Arial" panose="020B0604020202020204" pitchFamily="34" charset="0"/>
                <a:ea typeface="Aptos" panose="020B0004020202020204" pitchFamily="34" charset="0"/>
                <a:cs typeface="Arial" panose="020B0604020202020204" pitchFamily="34" charset="0"/>
              </a:rPr>
              <a:t>🧐 What went wrong after the Lead Data Science and Engineering Manager resigned?</a:t>
            </a:r>
          </a:p>
          <a:p>
            <a:pPr>
              <a:lnSpc>
                <a:spcPct val="107000"/>
              </a:lnSpc>
              <a:spcAft>
                <a:spcPts val="800"/>
              </a:spcAft>
            </a:pPr>
            <a:endParaRPr lang="en-GB" sz="2000" b="1" kern="100" dirty="0">
              <a:solidFill>
                <a:srgbClr val="00B050"/>
              </a:solidFill>
              <a:effectLst/>
              <a:latin typeface="Arial" panose="020B0604020202020204" pitchFamily="34" charset="0"/>
              <a:ea typeface="Aptos" panose="020B0004020202020204" pitchFamily="34" charset="0"/>
              <a:cs typeface="Arial" panose="020B0604020202020204" pitchFamily="34" charset="0"/>
            </a:endParaRPr>
          </a:p>
          <a:p>
            <a:r>
              <a:rPr lang="en-GB" sz="2000" b="1" dirty="0">
                <a:solidFill>
                  <a:srgbClr val="00B050"/>
                </a:solidFill>
                <a:effectLst/>
                <a:latin typeface="Arial" panose="020B0604020202020204" pitchFamily="34" charset="0"/>
                <a:ea typeface="Times New Roman" panose="02020603050405020304" pitchFamily="18" charset="0"/>
                <a:cs typeface="Arial" panose="020B0604020202020204" pitchFamily="34" charset="0"/>
              </a:rPr>
              <a:t>🧐What steps would you suggest the Director and CTO take to fix this situation?</a:t>
            </a:r>
          </a:p>
          <a:p>
            <a:endParaRPr lang="en-GB" sz="1800" b="1" dirty="0">
              <a:solidFill>
                <a:srgbClr val="00B050"/>
              </a:solidFill>
              <a:latin typeface="Arial" panose="020B0604020202020204" pitchFamily="34" charset="0"/>
              <a:ea typeface="Times New Roman" panose="02020603050405020304" pitchFamily="18" charset="0"/>
              <a:cs typeface="Arial" panose="020B0604020202020204" pitchFamily="34" charset="0"/>
            </a:endParaRPr>
          </a:p>
          <a:p>
            <a:endParaRPr lang="en-US" sz="2000" b="1" dirty="0">
              <a:solidFill>
                <a:srgbClr val="0070C0"/>
              </a:solidFill>
              <a:latin typeface="Arial (Body)"/>
            </a:endParaRPr>
          </a:p>
          <a:p>
            <a:r>
              <a:rPr lang="en-US" sz="2000" b="1" dirty="0">
                <a:solidFill>
                  <a:srgbClr val="0070C0"/>
                </a:solidFill>
                <a:latin typeface="Arial (Body)"/>
              </a:rPr>
              <a:t>Please be ready to give feedback </a:t>
            </a:r>
            <a:r>
              <a:rPr lang="en-US" sz="2000" b="1" dirty="0">
                <a:solidFill>
                  <a:srgbClr val="0070C0"/>
                </a:solidFill>
                <a:latin typeface="Arial (Body)"/>
                <a:sym typeface="Wingdings" panose="05000000000000000000" pitchFamily="2" charset="2"/>
              </a:rPr>
              <a:t></a:t>
            </a:r>
            <a:endParaRPr lang="en-US" sz="2000" b="1" dirty="0">
              <a:solidFill>
                <a:srgbClr val="0070C0"/>
              </a:solidFill>
              <a:latin typeface="Arial (Body)"/>
            </a:endParaRPr>
          </a:p>
          <a:p>
            <a:endParaRPr lang="en-US" sz="2000" b="1" dirty="0">
              <a:solidFill>
                <a:srgbClr val="0070C0"/>
              </a:solidFill>
              <a:latin typeface="Arial (Body)"/>
            </a:endParaRPr>
          </a:p>
        </p:txBody>
      </p:sp>
      <p:pic>
        <p:nvPicPr>
          <p:cNvPr id="6" name="Picture 5" descr="A pink and blue speech bubbles&#10;&#10;Description automatically generated">
            <a:extLst>
              <a:ext uri="{FF2B5EF4-FFF2-40B4-BE49-F238E27FC236}">
                <a16:creationId xmlns:a16="http://schemas.microsoft.com/office/drawing/2014/main" id="{9B38EC21-0504-8252-682C-753E50978C01}"/>
              </a:ext>
            </a:extLst>
          </p:cNvPr>
          <p:cNvPicPr>
            <a:picLocks noChangeAspect="1"/>
          </p:cNvPicPr>
          <p:nvPr/>
        </p:nvPicPr>
        <p:blipFill rotWithShape="1">
          <a:blip r:embed="rId3"/>
          <a:srcRect t="1120" r="-4" b="7429"/>
          <a:stretch/>
        </p:blipFill>
        <p:spPr>
          <a:xfrm>
            <a:off x="8067620" y="4164307"/>
            <a:ext cx="2479598" cy="2386863"/>
          </a:xfrm>
          <a:custGeom>
            <a:avLst/>
            <a:gdLst/>
            <a:ahLst/>
            <a:cxnLst/>
            <a:rect l="l" t="t" r="r" b="b"/>
            <a:pathLst>
              <a:path w="4290741" h="4130271">
                <a:moveTo>
                  <a:pt x="2503809" y="0"/>
                </a:moveTo>
                <a:cubicBezTo>
                  <a:pt x="3157405" y="0"/>
                  <a:pt x="3752509" y="250434"/>
                  <a:pt x="4198398" y="660580"/>
                </a:cubicBezTo>
                <a:lnTo>
                  <a:pt x="4290741" y="751286"/>
                </a:lnTo>
                <a:lnTo>
                  <a:pt x="4290741" y="4130271"/>
                </a:lnTo>
                <a:lnTo>
                  <a:pt x="604508" y="4130271"/>
                </a:lnTo>
                <a:lnTo>
                  <a:pt x="461940" y="3953232"/>
                </a:lnTo>
                <a:cubicBezTo>
                  <a:pt x="171051" y="3544183"/>
                  <a:pt x="0" y="3043971"/>
                  <a:pt x="0" y="2503809"/>
                </a:cubicBezTo>
                <a:cubicBezTo>
                  <a:pt x="0" y="1120992"/>
                  <a:pt x="1120992" y="0"/>
                  <a:pt x="2503809" y="0"/>
                </a:cubicBezTo>
                <a:close/>
              </a:path>
            </a:pathLst>
          </a:custGeom>
        </p:spPr>
      </p:pic>
    </p:spTree>
    <p:extLst>
      <p:ext uri="{BB962C8B-B14F-4D97-AF65-F5344CB8AC3E}">
        <p14:creationId xmlns:p14="http://schemas.microsoft.com/office/powerpoint/2010/main" val="830463719"/>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19">
            <a:extLst>
              <a:ext uri="{FF2B5EF4-FFF2-40B4-BE49-F238E27FC236}">
                <a16:creationId xmlns:a16="http://schemas.microsoft.com/office/drawing/2014/main" id="{2E6C7FBE-EAC8-4F99-F55F-C8FE94AE5087}"/>
              </a:ext>
            </a:extLst>
          </p:cNvPr>
          <p:cNvSpPr txBox="1">
            <a:spLocks/>
          </p:cNvSpPr>
          <p:nvPr/>
        </p:nvSpPr>
        <p:spPr>
          <a:xfrm>
            <a:off x="264920" y="272321"/>
            <a:ext cx="11927080" cy="661129"/>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mn-lt"/>
                <a:ea typeface="+mn-ea"/>
                <a:cs typeface="+mn-cs"/>
              </a:defRPr>
            </a:lvl1pPr>
            <a:lvl2pPr marL="74295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2pPr>
            <a:lvl3pPr marL="1028705"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3pPr>
            <a:lvl4pPr marL="1314459"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4pPr>
            <a:lvl5pPr marL="1600212" indent="-457200" algn="l" defTabSz="914400" rtl="0" eaLnBrk="1" latinLnBrk="0" hangingPunct="1">
              <a:lnSpc>
                <a:spcPct val="90000"/>
              </a:lnSpc>
              <a:spcBef>
                <a:spcPts val="500"/>
              </a:spcBef>
              <a:buFont typeface="Arial" panose="020B0604020202020204" pitchFamily="34" charset="0"/>
              <a:buChar char="•"/>
              <a:defRPr sz="2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Helpful Links</a:t>
            </a:r>
          </a:p>
        </p:txBody>
      </p:sp>
      <p:sp>
        <p:nvSpPr>
          <p:cNvPr id="18" name="TextBox 17">
            <a:extLst>
              <a:ext uri="{FF2B5EF4-FFF2-40B4-BE49-F238E27FC236}">
                <a16:creationId xmlns:a16="http://schemas.microsoft.com/office/drawing/2014/main" id="{495E3176-BA74-FE25-E118-A20D9AEDAF04}"/>
              </a:ext>
            </a:extLst>
          </p:cNvPr>
          <p:cNvSpPr txBox="1"/>
          <p:nvPr/>
        </p:nvSpPr>
        <p:spPr>
          <a:xfrm>
            <a:off x="264920" y="1127036"/>
            <a:ext cx="10382760" cy="3693319"/>
          </a:xfrm>
          <a:prstGeom prst="rect">
            <a:avLst/>
          </a:prstGeom>
          <a:noFill/>
        </p:spPr>
        <p:txBody>
          <a:bodyPr wrap="square">
            <a:spAutoFit/>
          </a:bodyPr>
          <a:lstStyle/>
          <a:p>
            <a:r>
              <a:rPr lang="en-GB" dirty="0">
                <a:hlinkClick r:id="rId3"/>
              </a:rPr>
              <a:t>https://www.mckinsey.com/midwest/~/media/McKinsey/Business%20Functions/McKinsey%20Analytics/Our%20Insights/Why%20data%20culture%20matters/Why-data-culture-matters.pdf</a:t>
            </a:r>
            <a:endParaRPr lang="en-GB" dirty="0"/>
          </a:p>
          <a:p>
            <a:endParaRPr lang="en-GB" dirty="0"/>
          </a:p>
          <a:p>
            <a:r>
              <a:rPr lang="en-GB" dirty="0">
                <a:hlinkClick r:id="rId4"/>
              </a:rPr>
              <a:t>https://www.datacamp.com/blog/how-to-create-data-driven-organization</a:t>
            </a:r>
            <a:endParaRPr lang="en-GB" dirty="0"/>
          </a:p>
          <a:p>
            <a:endParaRPr lang="en-GB" dirty="0"/>
          </a:p>
          <a:p>
            <a:r>
              <a:rPr lang="en-GB" dirty="0">
                <a:hlinkClick r:id="rId5"/>
              </a:rPr>
              <a:t>https://www.alation.com/blog/what-is-data-culture/</a:t>
            </a:r>
            <a:endParaRPr lang="en-GB" dirty="0"/>
          </a:p>
          <a:p>
            <a:endParaRPr lang="en-GB" dirty="0"/>
          </a:p>
          <a:p>
            <a:r>
              <a:rPr lang="en-GB" dirty="0">
                <a:hlinkClick r:id="rId6"/>
              </a:rPr>
              <a:t>https://www.linkedin.com/pulse/data-culture-what-why-matters-data-literacy-academy-cxnhe/</a:t>
            </a:r>
            <a:endParaRPr lang="en-GB" dirty="0"/>
          </a:p>
          <a:p>
            <a:endParaRPr lang="en-GB" dirty="0"/>
          </a:p>
          <a:p>
            <a:r>
              <a:rPr lang="en-GB" dirty="0">
                <a:hlinkClick r:id="rId7"/>
              </a:rPr>
              <a:t>https://www.talend.com/uk/resources/what-is-data-culture/</a:t>
            </a:r>
            <a:endParaRPr lang="en-GB" dirty="0"/>
          </a:p>
          <a:p>
            <a:endParaRPr lang="en-GB" dirty="0"/>
          </a:p>
          <a:p>
            <a:r>
              <a:rPr lang="en-GB" dirty="0">
                <a:hlinkClick r:id="rId8"/>
              </a:rPr>
              <a:t>https://www.forbes.com/councils/forbestechcouncil/2022/06/27/data-culture-what-it-is-and-how-to-make-it-work/</a:t>
            </a:r>
            <a:endParaRPr lang="en-GB" dirty="0"/>
          </a:p>
        </p:txBody>
      </p:sp>
    </p:spTree>
    <p:extLst>
      <p:ext uri="{BB962C8B-B14F-4D97-AF65-F5344CB8AC3E}">
        <p14:creationId xmlns:p14="http://schemas.microsoft.com/office/powerpoint/2010/main" val="516556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482</TotalTime>
  <Words>1044</Words>
  <Application>Microsoft Office PowerPoint</Application>
  <PresentationFormat>Widescreen</PresentationFormat>
  <Paragraphs>173</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Aptos Display</vt:lpstr>
      <vt:lpstr>Arial</vt:lpstr>
      <vt:lpstr>Arial (Body)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BPP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Justine Clack</dc:creator>
  <cp:lastModifiedBy>Justine Clack</cp:lastModifiedBy>
  <cp:revision>2</cp:revision>
  <dcterms:created xsi:type="dcterms:W3CDTF">2025-02-10T13:29:29Z</dcterms:created>
  <dcterms:modified xsi:type="dcterms:W3CDTF">2025-02-13T11:42:45Z</dcterms:modified>
</cp:coreProperties>
</file>